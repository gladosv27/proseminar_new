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0684babb8d437e" /><Relationship Type="http://schemas.openxmlformats.org/officeDocument/2006/relationships/extended-properties" Target="/docProps/app.xml" Id="R49497d6ae05048ec" /><Relationship Type="http://schemas.openxmlformats.org/officeDocument/2006/relationships/officeDocument" Target="/ppt/presentation.xml" Id="Rcdb61386ad7340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0215098fc346a3"/>
  </p:sldMasterIdLst>
  <p:notesMasterIdLst>
    <p:notesMasterId xmlns:r="http://schemas.openxmlformats.org/officeDocument/2006/relationships" r:id="Rddc29c71de1d403a"/>
  </p:notesMasterIdLst>
  <p:sldIdLst>
    <p:sldId xmlns:r="http://schemas.openxmlformats.org/officeDocument/2006/relationships" id="256" r:id="R7bf0a7a842cc43d4"/>
    <p:sldId xmlns:r="http://schemas.openxmlformats.org/officeDocument/2006/relationships" id="257" r:id="Rd23a225fef0c4fe8"/>
    <p:sldId xmlns:r="http://schemas.openxmlformats.org/officeDocument/2006/relationships" id="258" r:id="Rb2b0ee38887e4ce1"/>
    <p:sldId xmlns:r="http://schemas.openxmlformats.org/officeDocument/2006/relationships" id="259" r:id="R548115cb382c4c2b"/>
    <p:sldId xmlns:r="http://schemas.openxmlformats.org/officeDocument/2006/relationships" id="260" r:id="R51561d6d51b54c4f"/>
    <p:sldId xmlns:r="http://schemas.openxmlformats.org/officeDocument/2006/relationships" id="261" r:id="Rfb96cecbd5064618"/>
    <p:sldId xmlns:r="http://schemas.openxmlformats.org/officeDocument/2006/relationships" id="262" r:id="R5847025cc8234f97"/>
    <p:sldId xmlns:r="http://schemas.openxmlformats.org/officeDocument/2006/relationships" id="263" r:id="Rdb7e53d6d57e4520"/>
    <p:sldId xmlns:r="http://schemas.openxmlformats.org/officeDocument/2006/relationships" id="264" r:id="Rf68a1e8d65084d69"/>
    <p:sldId xmlns:r="http://schemas.openxmlformats.org/officeDocument/2006/relationships" id="265" r:id="R319c1c1bb42341de"/>
    <p:sldId xmlns:r="http://schemas.openxmlformats.org/officeDocument/2006/relationships" id="266" r:id="Rab6fd213daa44a63"/>
    <p:sldId xmlns:r="http://schemas.openxmlformats.org/officeDocument/2006/relationships" id="267" r:id="Rc8b2dd4abc9843be"/>
    <p:sldId xmlns:r="http://schemas.openxmlformats.org/officeDocument/2006/relationships" id="268" r:id="Rff7793a0f4d745f7"/>
    <p:sldId xmlns:r="http://schemas.openxmlformats.org/officeDocument/2006/relationships" id="269" r:id="Rb523a22f9f694cab"/>
    <p:sldId xmlns:r="http://schemas.openxmlformats.org/officeDocument/2006/relationships" id="270" r:id="R0e733489fbba4d82"/>
    <p:sldId xmlns:r="http://schemas.openxmlformats.org/officeDocument/2006/relationships" id="271" r:id="R75801f94ab9145c3"/>
    <p:sldId xmlns:r="http://schemas.openxmlformats.org/officeDocument/2006/relationships" id="272" r:id="Rc6572aa4103d4604"/>
    <p:sldId xmlns:r="http://schemas.openxmlformats.org/officeDocument/2006/relationships" id="273" r:id="Rd6b8f58d8a0448e4"/>
    <p:sldId xmlns:r="http://schemas.openxmlformats.org/officeDocument/2006/relationships" id="274" r:id="Reee2e844c48d4d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2f264e25184088" /><Relationship Type="http://schemas.openxmlformats.org/officeDocument/2006/relationships/slideMaster" Target="/ppt/slideMasters/slideMaster1.xml" Id="Re10215098fc346a3" /><Relationship Type="http://schemas.openxmlformats.org/officeDocument/2006/relationships/notesMaster" Target="/ppt/notesMasters/notesMaster1.xml" Id="Rddc29c71de1d403a" /><Relationship Type="http://schemas.openxmlformats.org/officeDocument/2006/relationships/presProps" Target="/ppt/presProps.xml" Id="R94b62e0ab7f94ac4" /><Relationship Type="http://schemas.openxmlformats.org/officeDocument/2006/relationships/viewProps" Target="/ppt/viewProps.xml" Id="Rca2ca44f297b46d5" /><Relationship Type="http://schemas.openxmlformats.org/officeDocument/2006/relationships/tableStyles" Target="/ppt/tableStyles.xml" Id="Rccafd38661ee4b15" /><Relationship Type="http://schemas.openxmlformats.org/officeDocument/2006/relationships/slide" Target="/ppt/slides/slide1.xml" Id="R7bf0a7a842cc43d4" /><Relationship Type="http://schemas.openxmlformats.org/officeDocument/2006/relationships/slide" Target="/ppt/slides/slide2.xml" Id="Rd23a225fef0c4fe8" /><Relationship Type="http://schemas.openxmlformats.org/officeDocument/2006/relationships/slide" Target="/ppt/slides/slide3.xml" Id="Rb2b0ee38887e4ce1" /><Relationship Type="http://schemas.openxmlformats.org/officeDocument/2006/relationships/slide" Target="/ppt/slides/slide4.xml" Id="R548115cb382c4c2b" /><Relationship Type="http://schemas.openxmlformats.org/officeDocument/2006/relationships/slide" Target="/ppt/slides/slide5.xml" Id="R51561d6d51b54c4f" /><Relationship Type="http://schemas.openxmlformats.org/officeDocument/2006/relationships/slide" Target="/ppt/slides/slide6.xml" Id="Rfb96cecbd5064618" /><Relationship Type="http://schemas.openxmlformats.org/officeDocument/2006/relationships/slide" Target="/ppt/slides/slide7.xml" Id="R5847025cc8234f97" /><Relationship Type="http://schemas.openxmlformats.org/officeDocument/2006/relationships/slide" Target="/ppt/slides/slide8.xml" Id="Rdb7e53d6d57e4520" /><Relationship Type="http://schemas.openxmlformats.org/officeDocument/2006/relationships/slide" Target="/ppt/slides/slide9.xml" Id="Rf68a1e8d65084d69" /><Relationship Type="http://schemas.openxmlformats.org/officeDocument/2006/relationships/slide" Target="/ppt/slides/slide10.xml" Id="R319c1c1bb42341de" /><Relationship Type="http://schemas.openxmlformats.org/officeDocument/2006/relationships/slide" Target="/ppt/slides/slide11.xml" Id="Rab6fd213daa44a63" /><Relationship Type="http://schemas.openxmlformats.org/officeDocument/2006/relationships/slide" Target="/ppt/slides/slide12.xml" Id="Rc8b2dd4abc9843be" /><Relationship Type="http://schemas.openxmlformats.org/officeDocument/2006/relationships/slide" Target="/ppt/slides/slide13.xml" Id="Rff7793a0f4d745f7" /><Relationship Type="http://schemas.openxmlformats.org/officeDocument/2006/relationships/slide" Target="/ppt/slides/slide14.xml" Id="Rb523a22f9f694cab" /><Relationship Type="http://schemas.openxmlformats.org/officeDocument/2006/relationships/slide" Target="/ppt/slides/slide15.xml" Id="R0e733489fbba4d82" /><Relationship Type="http://schemas.openxmlformats.org/officeDocument/2006/relationships/slide" Target="/ppt/slides/slide16.xml" Id="R75801f94ab9145c3" /><Relationship Type="http://schemas.openxmlformats.org/officeDocument/2006/relationships/slide" Target="/ppt/slides/slide17.xml" Id="Rc6572aa4103d4604" /><Relationship Type="http://schemas.openxmlformats.org/officeDocument/2006/relationships/slide" Target="/ppt/slides/slide18.xml" Id="Rd6b8f58d8a0448e4" /><Relationship Type="http://schemas.openxmlformats.org/officeDocument/2006/relationships/slide" Target="/ppt/slides/slide19.xml" Id="Reee2e844c48d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b7ff31b8c340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0393a88cd548db" /><Relationship Type="http://schemas.openxmlformats.org/officeDocument/2006/relationships/notesMaster" Target="/ppt/notesMasters/notesMaster1.xml" Id="Reb0d3ad7f2a348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7e770e70974bf5" /><Relationship Type="http://schemas.openxmlformats.org/officeDocument/2006/relationships/notesMaster" Target="/ppt/notesMasters/notesMaster1.xml" Id="Radebdc16938540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8efd46e2e747a2" /><Relationship Type="http://schemas.openxmlformats.org/officeDocument/2006/relationships/notesMaster" Target="/ppt/notesMasters/notesMaster1.xml" Id="R07bb5239186543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8caced57094432" /><Relationship Type="http://schemas.openxmlformats.org/officeDocument/2006/relationships/notesMaster" Target="/ppt/notesMasters/notesMaster1.xml" Id="Raf9e56bbd8a043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4b536a9d6844c7" /><Relationship Type="http://schemas.openxmlformats.org/officeDocument/2006/relationships/notesMaster" Target="/ppt/notesMasters/notesMaster1.xml" Id="Rfb299586268342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61bc8668614460" /><Relationship Type="http://schemas.openxmlformats.org/officeDocument/2006/relationships/notesMaster" Target="/ppt/notesMasters/notesMaster1.xml" Id="Re575e705b04c48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5614dec7004129" /><Relationship Type="http://schemas.openxmlformats.org/officeDocument/2006/relationships/notesMaster" Target="/ppt/notesMasters/notesMaster1.xml" Id="R4fc230b5eed840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828e93ded64baa" /><Relationship Type="http://schemas.openxmlformats.org/officeDocument/2006/relationships/notesMaster" Target="/ppt/notesMasters/notesMaster1.xml" Id="R3c50c38c1fc64d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859cbe2032467b" /><Relationship Type="http://schemas.openxmlformats.org/officeDocument/2006/relationships/notesMaster" Target="/ppt/notesMasters/notesMaster1.xml" Id="R1ca6286f4de04d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140f42998f4052" /><Relationship Type="http://schemas.openxmlformats.org/officeDocument/2006/relationships/notesMaster" Target="/ppt/notesMasters/notesMaster1.xml" Id="Rff07b5bd4ac847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ba604bce4442a9" /><Relationship Type="http://schemas.openxmlformats.org/officeDocument/2006/relationships/notesMaster" Target="/ppt/notesMasters/notesMaster1.xml" Id="Rebe55738c45c4d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58cfce53754fb4" /><Relationship Type="http://schemas.openxmlformats.org/officeDocument/2006/relationships/notesMaster" Target="/ppt/notesMasters/notesMaster1.xml" Id="R07440c7d7e8545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6662c7460e46be" /><Relationship Type="http://schemas.openxmlformats.org/officeDocument/2006/relationships/notesMaster" Target="/ppt/notesMasters/notesMaster1.xml" Id="R18a3ba18f0b143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c3c1f765ce4a36" /><Relationship Type="http://schemas.openxmlformats.org/officeDocument/2006/relationships/notesMaster" Target="/ppt/notesMasters/notesMaster1.xml" Id="R94102d34af9a47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796a56f014401d" /><Relationship Type="http://schemas.openxmlformats.org/officeDocument/2006/relationships/notesMaster" Target="/ppt/notesMasters/notesMaster1.xml" Id="Rffd55c0c68b34d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d67276f7d24303" /><Relationship Type="http://schemas.openxmlformats.org/officeDocument/2006/relationships/notesMaster" Target="/ppt/notesMasters/notesMaster1.xml" Id="R2247c9eb1f0348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24aa6e23d846a4" /><Relationship Type="http://schemas.openxmlformats.org/officeDocument/2006/relationships/notesMaster" Target="/ppt/notesMasters/notesMaster1.xml" Id="Ra0e560d929804a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13191a00c242b0" /><Relationship Type="http://schemas.openxmlformats.org/officeDocument/2006/relationships/notesMaster" Target="/ppt/notesMasters/notesMaster1.xml" Id="R8d4679df582545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4d8e33a1494ed6" /><Relationship Type="http://schemas.openxmlformats.org/officeDocument/2006/relationships/notesMaster" Target="/ppt/notesMasters/notesMaster1.xml" Id="Race499da51f641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5572094ef4a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804a91fe04a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f8feec86144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9787315f441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ea229eca144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85d1de6da48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878c8e624414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c5bb17eef4c7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fe2db87a542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8e95cff40407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50bd1c19b47f1" /></Relationships>
</file>

<file path=ppt/slideLayouts/slideLayout1.xml><?xml version="1.0" encoding="utf-8"?>
<p:sldLayout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9D7B32C4-3DBE-631D-ED3D-8181DE89BB5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0AF4420-8729-D146-E849-DE95E51DAE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Master-Untertitelformat bearbeiten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C1D9052-398B-0396-8B5F-5FBBEFBE67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A5B6CF52-4316-045E-F5FF-20B15BD8BC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9B611458-1F8B-43C3-0CAA-A3E1F9831D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1A7983D5-0200-30AE-DB18-733FB7BF64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68EB8E3-FAD5-5620-33A5-2EA737B73A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Mastertextformat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5F608BA-FE72-A237-62CF-4CD335AB50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B9BF1E1-C7BE-7033-FDCC-37E5E4805E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A4D5D3B9-0F71-9425-0081-9D700166D6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33A2FE5-9F9B-BE99-6C1E-D168A8EFF5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EA399C57-D4F9-64DA-BD5D-89D2F5794D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Mastertextformat bearbeiten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8E84555-4995-EBEB-757A-3F045BBCE0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0B48AAC9-7E9F-0909-5A79-39433919EB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B0E634-E6AB-0BD1-7A37-895ACDFADD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7974094-3923-D7BB-9395-6F323E6883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86EC115-519D-33E5-AC1B-26734A0FE0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Mastertextformat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CEF24182-B19A-4701-5597-44ACB7469C5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Mastertextformat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C478FC32-DFF9-E77E-D9D6-B017DDE83D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1153891C-335A-72C9-40F8-4B009C1AE5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B24F23D6-358D-57DD-4D26-3F4F2DBFCD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4776D862-C8BB-BD1A-D64E-9537EA41F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7D131DA3-7F2C-3514-37AC-60D9D0FD12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Mastertextformat bearbeiten</a:t>
            </a:r>
          </a:p>
        </p:txBody>
      </p:sp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2F2B3FD1-D124-6939-D785-8C9490B0FDE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Mastertextformat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  <p:sp>
        <p:nvSpPr>
          <p:cNvPr id="5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78193D3A-0750-7794-9321-30E90B92A87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Mastertextformat bearbeiten</a:t>
            </a:r>
          </a:p>
        </p:txBody>
      </p:sp>
      <p:sp>
        <p:nvSpPr>
          <p:cNvPr id="6" name="Inhaltsplatzhalter 5">
            <a:extLst xmlns:a="http://schemas.openxmlformats.org/drawingml/2006/main">
              <a:ext uri="{FF2B5EF4-FFF2-40B4-BE49-F238E27FC236}">
                <a16:creationId xmlns:a16="http://schemas.microsoft.com/office/drawing/2014/main" id="{45225718-D79D-3142-4EAD-086ACFF6C15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Mastertextformat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831BA277-0EA9-E03A-72C7-3E35DEC1D2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F01B183-4DFE-1F37-A585-8EBE24ADF6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2671B79B-E67E-6463-C5F4-2922D3C921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E98918B-D1E8-B9CB-261D-8963CE73B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417147C-5796-8032-D2E8-0EA1155620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0FA34E5-D12E-1B08-5C7E-144553A27A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02216DF3-4AA0-F80B-C9EE-CE82BE50AB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3DE43DC-DB3C-9374-AEDA-A1D116599A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CDF920C6-8DE1-4D7C-94D7-2E5D6432E0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D2999E86-59D9-6637-2175-3E422EA6F8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26084B2-DB08-A866-9295-8A7EB389C8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F03C3BA0-448F-35ED-43FE-6AD0545D4B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Mastertextformat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  <p:sp>
        <p:nvSpPr>
          <p:cNvPr id="4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854940D9-55E9-90F5-11B7-4247CDF1DF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Mastertextformat bearbeiten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D7D9D14A-95E4-50C6-B5B0-FF118ECB72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0971ADE-B8FE-266D-C8B7-C943A9ED73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574986F6-08C2-F0D1-F50A-DD1B21C22E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F03941A-1B55-0628-30C7-D9EB5D9BE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F82D558F-6009-5D88-BEFB-5ED05EBC1B3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5A0D9213-2F26-2D39-578E-67E31869F6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Mastertextformat bearbeiten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6B005BCE-3434-3E80-72C4-35D77B939F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255BF21-6F6A-FFE7-33A2-FE54BC7D05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oliennummernplatzhalter 6">
            <a:extLst xmlns:a="http://schemas.openxmlformats.org/drawingml/2006/main">
              <a:ext uri="{FF2B5EF4-FFF2-40B4-BE49-F238E27FC236}">
                <a16:creationId xmlns:a16="http://schemas.microsoft.com/office/drawing/2014/main" id="{924184AF-A1B2-DF57-F4B2-5C43FA8E9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FE67760-1728-C490-104E-D0977965F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Vertikaler Textplatzhalter 2">
            <a:extLst xmlns:a="http://schemas.openxmlformats.org/drawingml/2006/main">
              <a:ext uri="{FF2B5EF4-FFF2-40B4-BE49-F238E27FC236}">
                <a16:creationId xmlns:a16="http://schemas.microsoft.com/office/drawing/2014/main" id="{EB984CAA-F718-1E8E-75B4-7D14F65F9C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Mastertextformat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8D27C65-9EB4-9B72-4BB4-4570B0EBCF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2C292F8-3D4A-DE6C-4428-9A25D33A3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625E981-CBFD-E58E-30AD-730DA724CE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kaler Titel 1">
            <a:extLst xmlns:a="http://schemas.openxmlformats.org/drawingml/2006/main">
              <a:ext uri="{FF2B5EF4-FFF2-40B4-BE49-F238E27FC236}">
                <a16:creationId xmlns:a16="http://schemas.microsoft.com/office/drawing/2014/main" id="{D014AABE-C0E2-7DCA-68F3-2C89B5A50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Vertikaler Textplatzhalter 2">
            <a:extLst xmlns:a="http://schemas.openxmlformats.org/drawingml/2006/main">
              <a:ext uri="{FF2B5EF4-FFF2-40B4-BE49-F238E27FC236}">
                <a16:creationId xmlns:a16="http://schemas.microsoft.com/office/drawing/2014/main" id="{6984EC57-17CF-059D-B54D-D99D94C71D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Mastertextformat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94F55FA7-7DB5-C0BA-3587-8184B88639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0B86A25-3EE6-F84F-8B93-549B59413F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85F08F73-9D8B-1449-24CD-E625B4ACE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47880ee2ff4e45" /><Relationship Type="http://schemas.openxmlformats.org/officeDocument/2006/relationships/slideLayout" Target="/ppt/slideLayouts/slideLayout1.xml" Id="Rdac8762697134afb" /><Relationship Type="http://schemas.openxmlformats.org/officeDocument/2006/relationships/slideLayout" Target="/ppt/slideLayouts/slideLayout2.xml" Id="R187e043ca7094c48" /><Relationship Type="http://schemas.openxmlformats.org/officeDocument/2006/relationships/slideLayout" Target="/ppt/slideLayouts/slideLayout3.xml" Id="Raf24f00b187943b4" /><Relationship Type="http://schemas.openxmlformats.org/officeDocument/2006/relationships/slideLayout" Target="/ppt/slideLayouts/slideLayout4.xml" Id="R2431f560622c4cca" /><Relationship Type="http://schemas.openxmlformats.org/officeDocument/2006/relationships/slideLayout" Target="/ppt/slideLayouts/slideLayout5.xml" Id="R7f9a72d0601e4a23" /><Relationship Type="http://schemas.openxmlformats.org/officeDocument/2006/relationships/slideLayout" Target="/ppt/slideLayouts/slideLayout6.xml" Id="Rb82812758b604a57" /><Relationship Type="http://schemas.openxmlformats.org/officeDocument/2006/relationships/slideLayout" Target="/ppt/slideLayouts/slideLayout7.xml" Id="Rf341f1e03b0245f9" /><Relationship Type="http://schemas.openxmlformats.org/officeDocument/2006/relationships/slideLayout" Target="/ppt/slideLayouts/slideLayout8.xml" Id="R46c0514b12b04967" /><Relationship Type="http://schemas.openxmlformats.org/officeDocument/2006/relationships/slideLayout" Target="/ppt/slideLayouts/slideLayout9.xml" Id="R4df036e57fd84aab" /><Relationship Type="http://schemas.openxmlformats.org/officeDocument/2006/relationships/slideLayout" Target="/ppt/slideLayouts/slideLayout10.xml" Id="Rd347e79ce6ad4434" /><Relationship Type="http://schemas.openxmlformats.org/officeDocument/2006/relationships/slideLayout" Target="/ppt/slideLayouts/slideLayout11.xml" Id="R5efbd2f812094ef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C4DD330F-9E72-2D4D-3DE5-47F92498C4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F1F17BF4-0D0C-22DF-7661-85B92BD361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Mastertextformat bearbeiten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80EFBEBE-7EE5-C03F-DFEC-9D0BD0987A9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6B2F456-F607-4124-BBB6-EBFAC5040AD0}" type="datetimeFigureOut">
              <a:t>09.07.2026</a:t>
            </a:fld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47BAB33A-1B46-220F-771A-082A244D11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71854A8D-5C25-7462-73F8-2D9A82C5C39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027C53F-A91D-47C0-85E0-6F37363F36C7}" type="slidenum">
              <a:t>‹Nr.›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c8762697134afb"/>
    <p:sldLayoutId xmlns:r="http://schemas.openxmlformats.org/officeDocument/2006/relationships" id="2147483650" r:id="R187e043ca7094c48"/>
    <p:sldLayoutId xmlns:r="http://schemas.openxmlformats.org/officeDocument/2006/relationships" id="2147483651" r:id="Raf24f00b187943b4"/>
    <p:sldLayoutId xmlns:r="http://schemas.openxmlformats.org/officeDocument/2006/relationships" id="2147483652" r:id="R2431f560622c4cca"/>
    <p:sldLayoutId xmlns:r="http://schemas.openxmlformats.org/officeDocument/2006/relationships" id="2147483653" r:id="R7f9a72d0601e4a23"/>
    <p:sldLayoutId xmlns:r="http://schemas.openxmlformats.org/officeDocument/2006/relationships" id="2147483654" r:id="Rb82812758b604a57"/>
    <p:sldLayoutId xmlns:r="http://schemas.openxmlformats.org/officeDocument/2006/relationships" id="2147483655" r:id="Rf341f1e03b0245f9"/>
    <p:sldLayoutId xmlns:r="http://schemas.openxmlformats.org/officeDocument/2006/relationships" id="2147483656" r:id="R46c0514b12b04967"/>
    <p:sldLayoutId xmlns:r="http://schemas.openxmlformats.org/officeDocument/2006/relationships" id="2147483657" r:id="R4df036e57fd84aab"/>
    <p:sldLayoutId xmlns:r="http://schemas.openxmlformats.org/officeDocument/2006/relationships" id="2147483658" r:id="Rd347e79ce6ad4434"/>
    <p:sldLayoutId xmlns:r="http://schemas.openxmlformats.org/officeDocument/2006/relationships" id="2147483659" r:id="R5efbd2f812094ef9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fd8de13e0a4fad" /><Relationship Type="http://schemas.openxmlformats.org/officeDocument/2006/relationships/image" Target="/ppt/media/image.png" Id="R530e9f651b474864" /><Relationship Type="http://schemas.openxmlformats.org/officeDocument/2006/relationships/notesSlide" Target="/ppt/notesSlides/notesSlide1.xml" Id="Rfdcf95d1567b47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0f4278be7476b" /><Relationship Type="http://schemas.openxmlformats.org/officeDocument/2006/relationships/notesSlide" Target="/ppt/notesSlides/notesSlide2.xml" Id="R177924277e5d47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9bde64552142fe" /><Relationship Type="http://schemas.openxmlformats.org/officeDocument/2006/relationships/notesSlide" Target="/ppt/notesSlides/notesSlide3.xml" Id="R4fb55506179146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40cc1571c24ef4" /><Relationship Type="http://schemas.openxmlformats.org/officeDocument/2006/relationships/notesSlide" Target="/ppt/notesSlides/notesSlide4.xml" Id="R0b6e29229d7445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fbbeedb27242d1" /><Relationship Type="http://schemas.openxmlformats.org/officeDocument/2006/relationships/notesSlide" Target="/ppt/notesSlides/notesSlide5.xml" Id="R88ec1efb58784d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ed1109841242fa" /><Relationship Type="http://schemas.openxmlformats.org/officeDocument/2006/relationships/notesSlide" Target="/ppt/notesSlides/notesSlide6.xml" Id="R735bad6e0e2243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eaefe472c942e8" /><Relationship Type="http://schemas.openxmlformats.org/officeDocument/2006/relationships/notesSlide" Target="/ppt/notesSlides/notesSlide7.xml" Id="R8f53ad39475048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6d64c6097e4385" /><Relationship Type="http://schemas.openxmlformats.org/officeDocument/2006/relationships/notesSlide" Target="/ppt/notesSlides/notesSlide8.xml" Id="Rf3b7903e98ee43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d8087476d448f1" /><Relationship Type="http://schemas.openxmlformats.org/officeDocument/2006/relationships/notesSlide" Target="/ppt/notesSlides/notesSlide9.xml" Id="R5a6fb5e592af4b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56e10de77e4e30" /><Relationship Type="http://schemas.openxmlformats.org/officeDocument/2006/relationships/notesSlide" Target="/ppt/notesSlides/notesSlide10.xml" Id="R74d4eb8c1c6e4a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cad1ed16f84080" /><Relationship Type="http://schemas.openxmlformats.org/officeDocument/2006/relationships/notesSlide" Target="/ppt/notesSlides/notesSlide11.xml" Id="Rb1fa37e7b2f848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269404ce164513" /><Relationship Type="http://schemas.openxmlformats.org/officeDocument/2006/relationships/notesSlide" Target="/ppt/notesSlides/notesSlide12.xml" Id="R0b52daf089cd43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c3669fc2db4eb0" /><Relationship Type="http://schemas.openxmlformats.org/officeDocument/2006/relationships/notesSlide" Target="/ppt/notesSlides/notesSlide13.xml" Id="Rcacfcb19926c40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b7a8bd741f45b7" /><Relationship Type="http://schemas.openxmlformats.org/officeDocument/2006/relationships/notesSlide" Target="/ppt/notesSlides/notesSlide14.xml" Id="R0884f3df391b45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e8d31e7d3940ed" /><Relationship Type="http://schemas.openxmlformats.org/officeDocument/2006/relationships/notesSlide" Target="/ppt/notesSlides/notesSlide15.xml" Id="R51d3a67cbc8345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1b2bd3f96e441d" /><Relationship Type="http://schemas.openxmlformats.org/officeDocument/2006/relationships/notesSlide" Target="/ppt/notesSlides/notesSlide16.xml" Id="Re7fc8408c90c42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85e12057ae4d2c" /><Relationship Type="http://schemas.openxmlformats.org/officeDocument/2006/relationships/notesSlide" Target="/ppt/notesSlides/notesSlide17.xml" Id="R5e8f657f0b054c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a5fc7f25454e82" /><Relationship Type="http://schemas.openxmlformats.org/officeDocument/2006/relationships/notesSlide" Target="/ppt/notesSlides/notesSlide18.xml" Id="R3ed4f12cf1a34f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7687d598ea4a8a" /><Relationship Type="http://schemas.openxmlformats.org/officeDocument/2006/relationships/notesSlide" Target="/ppt/notesSlides/notesSlide19.xml" Id="Rb5604264b8c44b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Grafik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e9f651b4748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7200A947-B45B-9691-79D7-AD7FD6D6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8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2E">
              <a:alpha val="90000"/>
            </a:srgbClr>
          </a:solidFill>
          <a:ln xmlns:a="http://schemas.openxmlformats.org/drawingml/2006/main" w="9525">
            <a:solidFill>
              <a:srgbClr val="0B1F2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D07AA64D-2337-D8BC-8302-1F2A943E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660400"/>
            <a:ext cx="3937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PROSEMINAR ·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1A5EE87D-594C-D197-4DB1-12166536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676400"/>
            <a:ext cx="6223000" cy="24006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52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Graph-RAG
auf dem Smartphone</a:t>
            </a:r>
          </a:p>
        </p:txBody>
      </p:sp>
      <p:sp>
        <p:nvSpPr>
          <p:cNvPr id="7" name="Textfeld 6">
            <a:extLst xmlns:a="http://schemas.openxmlformats.org/drawingml/2006/main">
              <a:ext uri="{FF2B5EF4-FFF2-40B4-BE49-F238E27FC236}">
                <a16:creationId xmlns:a16="http://schemas.microsoft.com/office/drawing/2014/main" id="{6ED1BB7D-1532-12E2-9041-7FC3965B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394200"/>
            <a:ext cx="5308600" cy="615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Hilft explizite Struktur kleinen lokalen Sprachmodellen bei Multi-Hop-Fragen?</a:t>
            </a:r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F24631A6-E5BC-A106-9030-2C09CAFB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3340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feld 8">
            <a:extLst xmlns:a="http://schemas.openxmlformats.org/drawingml/2006/main">
              <a:ext uri="{FF2B5EF4-FFF2-40B4-BE49-F238E27FC236}">
                <a16:creationId xmlns:a16="http://schemas.microsoft.com/office/drawing/2014/main" id="{0633351E-8323-E744-1B16-6128F7BA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765800"/>
            <a:ext cx="457200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Sinan Yavuz Adigüzel · TU Dortmund</a:t>
            </a:r>
          </a:p>
        </p:txBody>
      </p:sp>
    </p:spTree>
    <p:extLst>
      <p:ext uri="{BB962C8B-B14F-4D97-AF65-F5344CB8AC3E}">
        <p14:creationId xmlns:p14="http://schemas.microsoft.com/office/powerpoint/2010/main" val="2736407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8CE739D4-ADE4-92CB-82E1-9B325564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AUSGANGSPUNKT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808E0600-A2AF-0530-1378-BACC06E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Lokale KI schützt Daten – aber weiß nicht alles.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9F4DD05D-703F-B7FC-AAC6-EB53B4AA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B750933D-EEFE-2AF0-82AD-5AD239AC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16A2A62E-F296-A344-EC38-128EAB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1A263E84-4932-72C1-996A-1FFE4EF5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838200"/>
            <a:ext cx="1079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37A34384-3271-DD8F-BD3D-AE1D02BA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Privat heisst nicht allwissend.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F036A12B-4E8A-19B5-8590-D193C4D2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924C29FF-2E10-7DC2-7487-E696C080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336800"/>
            <a:ext cx="4508500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4600" b="1">
                <a:solidFill>
                  <a:srgbClr val="5EEAD4"/>
                </a:solidFill>
                <a:latin typeface="Century Schoolbook"/>
                <a:ea typeface="Century Schoolbook"/>
                <a:cs typeface="Century Schoolbook"/>
              </a:rPr>
              <a:t>PRIVAT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F0F910DB-4493-9C24-7CC1-32ADDBF1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175000"/>
            <a:ext cx="4572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klein · lokal · nach dem Download offline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949F2F22-984D-4273-193A-AA282427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336800"/>
            <a:ext cx="45085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4200" b="1">
                <a:solidFill>
                  <a:srgbClr val="FBBF24"/>
                </a:solidFill>
                <a:latin typeface="Century Schoolbook"/>
                <a:ea typeface="Century Schoolbook"/>
                <a:cs typeface="Century Schoolbook"/>
              </a:rPr>
              <a:t>LÜCKENHAFT</a:t>
            </a:r>
          </a:p>
        </p:txBody>
      </p:sp>
      <p:sp>
        <p:nvSpPr>
          <p:cNvPr id="13" name="Textfeld 12">
            <a:extLst xmlns:a="http://schemas.openxmlformats.org/drawingml/2006/main">
              <a:ext uri="{FF2B5EF4-FFF2-40B4-BE49-F238E27FC236}">
                <a16:creationId xmlns:a16="http://schemas.microsoft.com/office/drawing/2014/main" id="{952A7EE1-3336-0B3E-6FA5-1C5AFC9F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175000"/>
            <a:ext cx="4508500" cy="96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Faktenwissen fehlt. Antworten können plausibel klingen und dennoch falsch sein.</a:t>
            </a:r>
          </a:p>
        </p:txBody>
      </p:sp>
      <p:cxnSp>
        <p:nvCxnSpPr>
          <p:cNvPr id="41" name="Gerade Verbindung mit Pfeil 13"/>
          <p:cNvCxnSpPr/>
          <p:nvPr/>
        </p:nvCxnSpPr>
        <p:spPr>
          <a:xfrm xmlns:a="http://schemas.openxmlformats.org/drawingml/2006/main">
            <a:off x="6096000" y="2349500"/>
            <a:ext cx="0" cy="22225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94A3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Textfeld 14">
            <a:extLst xmlns:a="http://schemas.openxmlformats.org/drawingml/2006/main">
              <a:ext uri="{FF2B5EF4-FFF2-40B4-BE49-F238E27FC236}">
                <a16:creationId xmlns:a16="http://schemas.microsoft.com/office/drawing/2014/main" id="{F27FAC21-4417-D83F-39D5-E006CEFE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32400"/>
            <a:ext cx="74930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Die zentrale Frage lautet deshalb nicht: Wie groß ist das Modell? Sondern: Welches Wissen erhält es im richtigen Moment?</a:t>
            </a:r>
          </a:p>
        </p:txBody>
      </p:sp>
    </p:spTree>
    <p:extLst>
      <p:ext uri="{BB962C8B-B14F-4D97-AF65-F5344CB8AC3E}">
        <p14:creationId xmlns:p14="http://schemas.microsoft.com/office/powerpoint/2010/main" val="7217253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EC185685-0D89-1DBE-621F-00B212DD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THEORIE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1E849392-AB01-4EE3-624E-58DF3D3A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RAG ergänzt das Gedächtnis des Modells zur Laufzeit.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E3D860A8-0A96-52EA-3B18-F2B4D80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C64FEB32-CE56-30A6-E566-D3744DC2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D36E1DB9-50DA-D958-D862-ACE10C75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1C18043E-B7E1-357C-ECCE-D7055C00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838200"/>
            <a:ext cx="1079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B2F3AD8A-4AD8-A1D5-D975-8152B8AE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RAG erweitert Modellwissen.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F3AC918-4C1F-B0D0-8401-E3E19A81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095C3B80-2636-D89D-D9E5-99490967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451100"/>
            <a:ext cx="31750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PARAMETRISCHES WISSEN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C3B32552-A205-B11A-8DE4-4984F757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3098800"/>
            <a:ext cx="2921000" cy="1415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3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Was das Modell bereits in seinen Gewichten gelernt hat.</a:t>
            </a:r>
          </a:p>
        </p:txBody>
      </p:sp>
      <p:cxnSp>
        <p:nvCxnSpPr>
          <p:cNvPr id="38" name="Gerade Verbindung mit Pfeil 11"/>
          <p:cNvCxnSpPr/>
          <p:nvPr/>
        </p:nvCxnSpPr>
        <p:spPr>
          <a:xfrm xmlns:a="http://schemas.openxmlformats.org/drawingml/2006/main">
            <a:off x="4775200" y="3581400"/>
            <a:ext cx="1930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5EEAD4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Textfeld 12">
            <a:extLst xmlns:a="http://schemas.openxmlformats.org/drawingml/2006/main">
              <a:ext uri="{FF2B5EF4-FFF2-40B4-BE49-F238E27FC236}">
                <a16:creationId xmlns:a16="http://schemas.microsoft.com/office/drawing/2014/main" id="{30E90A8D-842A-1920-8310-FCD5FC78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3022600"/>
            <a:ext cx="16002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+ Kontext</a:t>
            </a:r>
          </a:p>
        </p:txBody>
      </p:sp>
      <p:sp>
        <p:nvSpPr>
          <p:cNvPr id="14" name="Textfeld 13">
            <a:extLst xmlns:a="http://schemas.openxmlformats.org/drawingml/2006/main">
              <a:ext uri="{FF2B5EF4-FFF2-40B4-BE49-F238E27FC236}">
                <a16:creationId xmlns:a16="http://schemas.microsoft.com/office/drawing/2014/main" id="{BE9E87E5-A5FF-C2B3-0166-0EF5D6E5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2451100"/>
            <a:ext cx="2921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RETRIEVAL-AUGMENTED GENERATION</a:t>
            </a:r>
          </a:p>
        </p:txBody>
      </p:sp>
      <p:sp>
        <p:nvSpPr>
          <p:cNvPr id="15" name="Textfeld 14">
            <a:extLst xmlns:a="http://schemas.openxmlformats.org/drawingml/2006/main">
              <a:ext uri="{FF2B5EF4-FFF2-40B4-BE49-F238E27FC236}">
                <a16:creationId xmlns:a16="http://schemas.microsoft.com/office/drawing/2014/main" id="{434873E1-D4DF-BFA4-0E36-F68C5704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3098800"/>
            <a:ext cx="2997200" cy="2123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3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Relevantes, überprüfbares Wissen wird für eine konkrete Frage bereitgestellt.</a:t>
            </a:r>
          </a:p>
        </p:txBody>
      </p:sp>
      <p:sp>
        <p:nvSpPr>
          <p:cNvPr id="16" name="Textfeld 15">
            <a:extLst xmlns:a="http://schemas.openxmlformats.org/drawingml/2006/main">
              <a:ext uri="{FF2B5EF4-FFF2-40B4-BE49-F238E27FC236}">
                <a16:creationId xmlns:a16="http://schemas.microsoft.com/office/drawing/2014/main" id="{D2B63BAB-4CEF-3894-7F80-DD9B3D09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5511800"/>
            <a:ext cx="797560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Meine Arbeit prüft, ob die Form dieses Kontexts bei mehrstufigen Fragen einen Unterschied macht.</a:t>
            </a:r>
          </a:p>
        </p:txBody>
      </p:sp>
    </p:spTree>
    <p:extLst>
      <p:ext uri="{BB962C8B-B14F-4D97-AF65-F5344CB8AC3E}">
        <p14:creationId xmlns:p14="http://schemas.microsoft.com/office/powerpoint/2010/main" val="483262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2A261115-5C76-3B3C-C3AA-34A5484E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THEORIE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FDF6A2CE-02D2-10C1-BD0F-4460E92D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Graph-RAG macht Beziehungen sichtbar.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559CC5A2-A47A-AB5A-8E11-89520F94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1C10B56B-DC9D-3C6E-46B6-3E1B05EC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8402F19C-774B-AB40-E641-79BB5A6D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7" name="Textfeld 6">
            <a:extLst xmlns:a="http://schemas.openxmlformats.org/drawingml/2006/main">
              <a:ext uri="{FF2B5EF4-FFF2-40B4-BE49-F238E27FC236}">
                <a16:creationId xmlns:a16="http://schemas.microsoft.com/office/drawing/2014/main" id="{6A8E4454-581C-04DA-113E-510A58BF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6800"/>
            <a:ext cx="3429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Vektor-RAG</a:t>
            </a: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4B4E130A-0001-6A3D-CE8D-DC9FA552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6700"/>
            <a:ext cx="3632200" cy="10618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[Hegel]
[Berlin]
[Schelling]</a:t>
            </a:r>
          </a:p>
        </p:txBody>
      </p:sp>
      <p:sp>
        <p:nvSpPr>
          <p:cNvPr id="9" name="Textfeld 8">
            <a:extLst xmlns:a="http://schemas.openxmlformats.org/drawingml/2006/main">
              <a:ext uri="{FF2B5EF4-FFF2-40B4-BE49-F238E27FC236}">
                <a16:creationId xmlns:a16="http://schemas.microsoft.com/office/drawing/2014/main" id="{F9F911A5-F0CA-6953-A94B-29B9D246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5000"/>
            <a:ext cx="34290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relevante Schnipsel – aber getrennt</a:t>
            </a:r>
          </a:p>
        </p:txBody>
      </p:sp>
      <p:cxnSp>
        <p:nvCxnSpPr>
          <p:cNvPr id="42" name="Gerade Verbindung mit Pfeil 9"/>
          <p:cNvCxnSpPr/>
          <p:nvPr/>
        </p:nvCxnSpPr>
        <p:spPr>
          <a:xfrm xmlns:a="http://schemas.openxmlformats.org/drawingml/2006/main">
            <a:off x="5511800" y="317500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94A3B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A4C3CA4C-01C4-BD4B-1956-FB4C6985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6800"/>
            <a:ext cx="3556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Graph-RAG</a:t>
            </a:r>
          </a:p>
        </p:txBody>
      </p:sp>
      <p:cxnSp>
        <p:nvCxnSpPr>
          <p:cNvPr id="44" name="Gerade Verbindung mit Pfeil 11"/>
          <p:cNvCxnSpPr/>
          <p:nvPr/>
        </p:nvCxnSpPr>
        <p:spPr>
          <a:xfrm xmlns:a="http://schemas.openxmlformats.org/drawingml/2006/main">
            <a:off x="7848600" y="34290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5EEAD4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5" name="Gerade Verbindung mit Pfeil 12"/>
          <p:cNvCxnSpPr/>
          <p:nvPr/>
        </p:nvCxnSpPr>
        <p:spPr>
          <a:xfrm xmlns:a="http://schemas.openxmlformats.org/drawingml/2006/main">
            <a:off x="9169400" y="34290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5EEAD4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Ellipse 13">
            <a:extLst xmlns:a="http://schemas.openxmlformats.org/drawingml/2006/main">
              <a:ext uri="{FF2B5EF4-FFF2-40B4-BE49-F238E27FC236}">
                <a16:creationId xmlns:a16="http://schemas.microsoft.com/office/drawing/2014/main" id="{51C67017-625C-19EE-4915-31B156A1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0" y="3149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Ellipse 14">
            <a:extLst xmlns:a="http://schemas.openxmlformats.org/drawingml/2006/main">
              <a:ext uri="{FF2B5EF4-FFF2-40B4-BE49-F238E27FC236}">
                <a16:creationId xmlns:a16="http://schemas.microsoft.com/office/drawing/2014/main" id="{3F9B8D67-AE4B-10A8-8D4E-D1A31301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9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Ellipse 15">
            <a:extLst xmlns:a="http://schemas.openxmlformats.org/drawingml/2006/main">
              <a:ext uri="{FF2B5EF4-FFF2-40B4-BE49-F238E27FC236}">
                <a16:creationId xmlns:a16="http://schemas.microsoft.com/office/drawing/2014/main" id="{C5E00206-9610-9226-2844-98BE6156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3149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feld 16">
            <a:extLst xmlns:a="http://schemas.openxmlformats.org/drawingml/2006/main">
              <a:ext uri="{FF2B5EF4-FFF2-40B4-BE49-F238E27FC236}">
                <a16:creationId xmlns:a16="http://schemas.microsoft.com/office/drawing/2014/main" id="{68AF3984-D99F-94B8-FEC1-F4DD5D90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3860800"/>
            <a:ext cx="9652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Hegel</a:t>
            </a:r>
          </a:p>
        </p:txBody>
      </p:sp>
      <p:sp>
        <p:nvSpPr>
          <p:cNvPr id="18" name="Textfeld 17">
            <a:extLst xmlns:a="http://schemas.openxmlformats.org/drawingml/2006/main">
              <a:ext uri="{FF2B5EF4-FFF2-40B4-BE49-F238E27FC236}">
                <a16:creationId xmlns:a16="http://schemas.microsoft.com/office/drawing/2014/main" id="{B77C8CF3-B7BA-6540-0AFB-2C0DB883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860800"/>
            <a:ext cx="10414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Schelling</a:t>
            </a:r>
          </a:p>
        </p:txBody>
      </p:sp>
      <p:sp>
        <p:nvSpPr>
          <p:cNvPr id="19" name="Textfeld 18">
            <a:extLst xmlns:a="http://schemas.openxmlformats.org/drawingml/2006/main">
              <a:ext uri="{FF2B5EF4-FFF2-40B4-BE49-F238E27FC236}">
                <a16:creationId xmlns:a16="http://schemas.microsoft.com/office/drawing/2014/main" id="{44746777-F102-140C-3A7A-118EF59A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860800"/>
            <a:ext cx="1092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Kierkegaard</a:t>
            </a:r>
          </a:p>
        </p:txBody>
      </p:sp>
      <p:sp>
        <p:nvSpPr>
          <p:cNvPr id="20" name="Textfeld 19">
            <a:extLst xmlns:a="http://schemas.openxmlformats.org/drawingml/2006/main">
              <a:ext uri="{FF2B5EF4-FFF2-40B4-BE49-F238E27FC236}">
                <a16:creationId xmlns:a16="http://schemas.microsoft.com/office/drawing/2014/main" id="{0ABCC35E-7BF1-DA0D-5C45-C3C0F78A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4622800"/>
            <a:ext cx="41910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Die Kette bleibt im Kontext sichtbar.</a:t>
            </a:r>
          </a:p>
        </p:txBody>
      </p:sp>
      <p:sp>
        <p:nvSpPr>
          <p:cNvPr id="21" name="Textfeld 20">
            <a:extLst xmlns:a="http://schemas.openxmlformats.org/drawingml/2006/main">
              <a:ext uri="{FF2B5EF4-FFF2-40B4-BE49-F238E27FC236}">
                <a16:creationId xmlns:a16="http://schemas.microsoft.com/office/drawing/2014/main" id="{C3942241-6CB3-065A-604F-E361A568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26100"/>
            <a:ext cx="838200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Das ist die Multi-Hop-Hypothese: Nicht mehr Text allein, sondern besser verbundene Evidenz.</a:t>
            </a:r>
          </a:p>
        </p:txBody>
      </p:sp>
    </p:spTree>
    <p:extLst>
      <p:ext uri="{BB962C8B-B14F-4D97-AF65-F5344CB8AC3E}">
        <p14:creationId xmlns:p14="http://schemas.microsoft.com/office/powerpoint/2010/main" val="942828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7180544E-6957-4C2E-DFE9-C1554F62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FORSCHUNGSFRAGE UND HYPOTHESEN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853D6F5E-5D75-49C6-0E8C-EC5F4A8B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Wann lohnt sich ein Wissensgraph?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787C8876-2D00-3D0A-BF9F-0EE8676B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37CAF4A4-9206-2E47-EE52-BEE6AD9E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0B39B874-E0BC-C5FF-E130-211A237B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7" name="Textfeld 6">
            <a:extLst xmlns:a="http://schemas.openxmlformats.org/drawingml/2006/main">
              <a:ext uri="{FF2B5EF4-FFF2-40B4-BE49-F238E27FC236}">
                <a16:creationId xmlns:a16="http://schemas.microsoft.com/office/drawing/2014/main" id="{C438A994-3539-348E-C0F2-BF228805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11400"/>
            <a:ext cx="8991600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Verbessert Graph-RAG auf einem kuratierten, typisierten Wissensgraphen die Antwortqualität kleiner On-Device-LLMs gegenüber Vektor-RAG und einer kontextfreien Baseline?</a:t>
            </a:r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C274C2A0-7CE7-07D1-C6CA-84C44EF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3873500"/>
            <a:ext cx="76962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feld 8">
            <a:extLst xmlns:a="http://schemas.openxmlformats.org/drawingml/2006/main">
              <a:ext uri="{FF2B5EF4-FFF2-40B4-BE49-F238E27FC236}">
                <a16:creationId xmlns:a16="http://schemas.microsoft.com/office/drawing/2014/main" id="{9C8CAB5E-7F2E-7D8E-51A4-1F0A6E66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67200"/>
            <a:ext cx="8229600" cy="4770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H1  RAG schlägt die Baseline · H2  bei einfachen Fragen annähernd gleich · H3  Graph-RAG profitiert bei 2–3 Hops</a:t>
            </a: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9C6B5239-FC44-B0EC-031E-D3DA78C3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53000"/>
            <a:ext cx="6400800" cy="4770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H4  bessere Enthaltung möglich · H5  mehr Kontext und höhere End-to-End-Kosten erwartet</a:t>
            </a:r>
          </a:p>
        </p:txBody>
      </p:sp>
    </p:spTree>
    <p:extLst>
      <p:ext uri="{BB962C8B-B14F-4D97-AF65-F5344CB8AC3E}">
        <p14:creationId xmlns:p14="http://schemas.microsoft.com/office/powerpoint/2010/main" val="1471365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195A42B7-8C7B-5739-55F2-059A18E3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MODELLIERUNG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980E6705-9033-33EA-4F01-0A55FDC3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Ein kleines, kontrolliertes Wissensuniversum.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0283EF58-4A6A-AFA6-3E84-FCEA55E1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A085425D-5973-629A-4926-DD5A6351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6EA3CDD-2295-9A25-1134-B65B4433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7" name="Textfeld 6">
            <a:extLst xmlns:a="http://schemas.openxmlformats.org/drawingml/2006/main">
              <a:ext uri="{FF2B5EF4-FFF2-40B4-BE49-F238E27FC236}">
                <a16:creationId xmlns:a16="http://schemas.microsoft.com/office/drawing/2014/main" id="{88453EA1-BAEB-477B-B8A6-50D06E6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286000"/>
            <a:ext cx="2603500" cy="11387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7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75`nKnoten</a:t>
            </a: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37BD3C26-4ADD-7F77-3BAD-FA21D298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632200"/>
            <a:ext cx="27940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165 typisierte Beziehungen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0C5CE873-E9E3-74F8-EE1F-10966E0B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159000"/>
            <a:ext cx="2984500" cy="208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107E8019-8F37-A226-CED4-944EEBEF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286000"/>
            <a:ext cx="2603500" cy="569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7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75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ECF9EBAD-A10A-BFE8-858F-B9564428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921000"/>
            <a:ext cx="26035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Knoten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4CF646B5-F32C-1477-CDEE-F8E794F1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632200"/>
            <a:ext cx="27940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165 typisierte Beziehungen</a:t>
            </a:r>
          </a:p>
        </p:txBody>
      </p:sp>
      <p:cxnSp>
        <p:nvCxnSpPr>
          <p:cNvPr id="54" name="Gerade Verbindung mit Pfeil 12"/>
          <p:cNvCxnSpPr/>
          <p:nvPr/>
        </p:nvCxnSpPr>
        <p:spPr>
          <a:xfrm xmlns:a="http://schemas.openxmlformats.org/drawingml/2006/main">
            <a:off x="4013200" y="2311400"/>
            <a:ext cx="0" cy="27432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0F29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Textfeld 13">
            <a:extLst xmlns:a="http://schemas.openxmlformats.org/drawingml/2006/main">
              <a:ext uri="{FF2B5EF4-FFF2-40B4-BE49-F238E27FC236}">
                <a16:creationId xmlns:a16="http://schemas.microsoft.com/office/drawing/2014/main" id="{4D282598-E1FA-06E8-30CB-F838F284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286000"/>
            <a:ext cx="2540000" cy="11387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7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40`nFragen</a:t>
            </a:r>
          </a:p>
        </p:txBody>
      </p:sp>
      <p:sp>
        <p:nvSpPr>
          <p:cNvPr id="15" name="Textfeld 14">
            <a:extLst xmlns:a="http://schemas.openxmlformats.org/drawingml/2006/main">
              <a:ext uri="{FF2B5EF4-FFF2-40B4-BE49-F238E27FC236}">
                <a16:creationId xmlns:a16="http://schemas.microsoft.com/office/drawing/2014/main" id="{5264F1D4-7C6E-3D20-698D-59E48A3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3632200"/>
            <a:ext cx="3276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10 Direkt · 14 Zwei-Hop · 8 Drei-Hop</a:t>
            </a:r>
          </a:p>
        </p:txBody>
      </p:sp>
      <p:sp>
        <p:nvSpPr>
          <p:cNvPr id="16" name="Rechteck 15">
            <a:extLst xmlns:a="http://schemas.openxmlformats.org/drawingml/2006/main">
              <a:ext uri="{FF2B5EF4-FFF2-40B4-BE49-F238E27FC236}">
                <a16:creationId xmlns:a16="http://schemas.microsoft.com/office/drawing/2014/main" id="{8469D0CB-28AB-A205-51F0-7936357A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159000"/>
            <a:ext cx="3492500" cy="208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feld 16">
            <a:extLst xmlns:a="http://schemas.openxmlformats.org/drawingml/2006/main">
              <a:ext uri="{FF2B5EF4-FFF2-40B4-BE49-F238E27FC236}">
                <a16:creationId xmlns:a16="http://schemas.microsoft.com/office/drawing/2014/main" id="{6390138E-AA9D-137E-D790-2721A73B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286000"/>
            <a:ext cx="2540000" cy="569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7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40</a:t>
            </a:r>
          </a:p>
        </p:txBody>
      </p:sp>
      <p:sp>
        <p:nvSpPr>
          <p:cNvPr id="18" name="Textfeld 17">
            <a:extLst xmlns:a="http://schemas.openxmlformats.org/drawingml/2006/main">
              <a:ext uri="{FF2B5EF4-FFF2-40B4-BE49-F238E27FC236}">
                <a16:creationId xmlns:a16="http://schemas.microsoft.com/office/drawing/2014/main" id="{4F83E71B-D5A9-2429-18EE-04376D71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921000"/>
            <a:ext cx="26035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Fragen</a:t>
            </a:r>
          </a:p>
        </p:txBody>
      </p:sp>
      <p:sp>
        <p:nvSpPr>
          <p:cNvPr id="19" name="Textfeld 18">
            <a:extLst xmlns:a="http://schemas.openxmlformats.org/drawingml/2006/main">
              <a:ext uri="{FF2B5EF4-FFF2-40B4-BE49-F238E27FC236}">
                <a16:creationId xmlns:a16="http://schemas.microsoft.com/office/drawing/2014/main" id="{CF410FC8-3D7A-14FB-DC06-BE4C1052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3632200"/>
            <a:ext cx="3276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10 Direkt · 14 Zwei-Hop · 8 Drei-Hop</a:t>
            </a:r>
          </a:p>
        </p:txBody>
      </p:sp>
      <p:cxnSp>
        <p:nvCxnSpPr>
          <p:cNvPr id="61" name="Gerade Verbindung mit Pfeil 19"/>
          <p:cNvCxnSpPr/>
          <p:nvPr/>
        </p:nvCxnSpPr>
        <p:spPr>
          <a:xfrm xmlns:a="http://schemas.openxmlformats.org/drawingml/2006/main">
            <a:off x="8153400" y="2311400"/>
            <a:ext cx="0" cy="27432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0F29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Textfeld 20">
            <a:extLst xmlns:a="http://schemas.openxmlformats.org/drawingml/2006/main">
              <a:ext uri="{FF2B5EF4-FFF2-40B4-BE49-F238E27FC236}">
                <a16:creationId xmlns:a16="http://schemas.microsoft.com/office/drawing/2014/main" id="{454A8891-5840-4EE9-54F9-B014E12E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2336800"/>
            <a:ext cx="2413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Kernvergleich</a:t>
            </a:r>
          </a:p>
        </p:txBody>
      </p:sp>
      <p:sp>
        <p:nvSpPr>
          <p:cNvPr id="22" name="Textfeld 21">
            <a:extLst xmlns:a="http://schemas.openxmlformats.org/drawingml/2006/main">
              <a:ext uri="{FF2B5EF4-FFF2-40B4-BE49-F238E27FC236}">
                <a16:creationId xmlns:a16="http://schemas.microsoft.com/office/drawing/2014/main" id="{4F55C99D-4580-B1FC-1E24-AB244BE8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2971800"/>
            <a:ext cx="24130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B0  kein Kontext
B1  Vektor-RAG
B2  Graph-RAG</a:t>
            </a:r>
          </a:p>
        </p:txBody>
      </p:sp>
      <p:sp>
        <p:nvSpPr>
          <p:cNvPr id="23" name="Textfeld 22">
            <a:extLst xmlns:a="http://schemas.openxmlformats.org/drawingml/2006/main">
              <a:ext uri="{FF2B5EF4-FFF2-40B4-BE49-F238E27FC236}">
                <a16:creationId xmlns:a16="http://schemas.microsoft.com/office/drawing/2014/main" id="{22F0C816-4A54-5D81-F73D-1B370AE2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600" y="5562600"/>
            <a:ext cx="84328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Domäne: Deutscher Idealismus · Wikipedia-basierte Inhalte · manuell kuratierter und eingefrorener Messgraph</a:t>
            </a:r>
          </a:p>
        </p:txBody>
      </p:sp>
    </p:spTree>
    <p:extLst>
      <p:ext uri="{BB962C8B-B14F-4D97-AF65-F5344CB8AC3E}">
        <p14:creationId xmlns:p14="http://schemas.microsoft.com/office/powerpoint/2010/main" val="3890192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18A324EA-ACA5-1DC9-D440-816C34E7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76B76AD5-641D-1111-7ED7-0F35F792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Die Reihenfolge darf das Ergebnis nicht prägen.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30A3E458-13F9-B08D-A862-9744685F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13A07716-A32F-0FC6-988C-E804721E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DB7BF1D3-9ECA-1231-5B34-F1298195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41453CC7-7234-6AEA-C40C-40ACE799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838200"/>
            <a:ext cx="1079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021FE607-737B-7788-CB57-F8FBEBAA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Reihenfolge darf nicht verzerren.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F11D524E-306E-D9F1-46C0-A54DB341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C06DF02C-660B-4439-BB25-C0C1EE91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905000"/>
            <a:ext cx="10795000" cy="165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44" name="Gerade Verbindung mit Pfeil 10"/>
          <p:cNvCxnSpPr/>
          <p:nvPr/>
        </p:nvCxnSpPr>
        <p:spPr>
          <a:xfrm xmlns:a="http://schemas.openxmlformats.org/drawingml/2006/main">
            <a:off x="1778000" y="3835400"/>
            <a:ext cx="8636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94A3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" name="Ellipse 11">
            <a:extLst xmlns:a="http://schemas.openxmlformats.org/drawingml/2006/main">
              <a:ext uri="{FF2B5EF4-FFF2-40B4-BE49-F238E27FC236}">
                <a16:creationId xmlns:a16="http://schemas.microsoft.com/office/drawing/2014/main" id="{DA8378AD-334E-E7E3-E5E2-2CF81150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00" y="3606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feld 12">
            <a:extLst xmlns:a="http://schemas.openxmlformats.org/drawingml/2006/main">
              <a:ext uri="{FF2B5EF4-FFF2-40B4-BE49-F238E27FC236}">
                <a16:creationId xmlns:a16="http://schemas.microsoft.com/office/drawing/2014/main" id="{4ADFB3E2-A09C-11D0-DBB1-77607150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768600"/>
            <a:ext cx="1828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Gleicher Prompt</a:t>
            </a:r>
          </a:p>
        </p:txBody>
      </p:sp>
      <p:sp>
        <p:nvSpPr>
          <p:cNvPr id="14" name="Textfeld 13">
            <a:extLst xmlns:a="http://schemas.openxmlformats.org/drawingml/2006/main">
              <a:ext uri="{FF2B5EF4-FFF2-40B4-BE49-F238E27FC236}">
                <a16:creationId xmlns:a16="http://schemas.microsoft.com/office/drawing/2014/main" id="{14B8D370-436C-F280-66AF-C0B3BCF3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292600"/>
            <a:ext cx="2286000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Modell, Temperatur und Antwortlimit bleiben konstant.</a:t>
            </a:r>
          </a:p>
        </p:txBody>
      </p:sp>
      <p:sp>
        <p:nvSpPr>
          <p:cNvPr id="15" name="Ellipse 14">
            <a:extLst xmlns:a="http://schemas.openxmlformats.org/drawingml/2006/main">
              <a:ext uri="{FF2B5EF4-FFF2-40B4-BE49-F238E27FC236}">
                <a16:creationId xmlns:a16="http://schemas.microsoft.com/office/drawing/2014/main" id="{6B12DBB2-34CF-88F1-1054-59E93879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06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feld 15">
            <a:extLst xmlns:a="http://schemas.openxmlformats.org/drawingml/2006/main">
              <a:ext uri="{FF2B5EF4-FFF2-40B4-BE49-F238E27FC236}">
                <a16:creationId xmlns:a16="http://schemas.microsoft.com/office/drawing/2014/main" id="{83E03398-AEBA-D4C6-7C71-7705511F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100" y="2768600"/>
            <a:ext cx="1828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Seed + Rotation</a:t>
            </a:r>
          </a:p>
        </p:txBody>
      </p:sp>
      <p:sp>
        <p:nvSpPr>
          <p:cNvPr id="17" name="Textfeld 16">
            <a:extLst xmlns:a="http://schemas.openxmlformats.org/drawingml/2006/main">
              <a:ext uri="{FF2B5EF4-FFF2-40B4-BE49-F238E27FC236}">
                <a16:creationId xmlns:a16="http://schemas.microsoft.com/office/drawing/2014/main" id="{A45D9A41-C632-9D18-05DE-FA001A5A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4292600"/>
            <a:ext cx="2286000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Fragen werden gemischt; Bedingungen rotieren zyklisch.</a:t>
            </a:r>
          </a:p>
        </p:txBody>
      </p:sp>
      <p:sp>
        <p:nvSpPr>
          <p:cNvPr id="18" name="Ellipse 17">
            <a:extLst xmlns:a="http://schemas.openxmlformats.org/drawingml/2006/main">
              <a:ext uri="{FF2B5EF4-FFF2-40B4-BE49-F238E27FC236}">
                <a16:creationId xmlns:a16="http://schemas.microsoft.com/office/drawing/2014/main" id="{D2F80169-EC2C-A8B4-4B80-D35DE96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3606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feld 18">
            <a:extLst xmlns:a="http://schemas.openxmlformats.org/drawingml/2006/main">
              <a:ext uri="{FF2B5EF4-FFF2-40B4-BE49-F238E27FC236}">
                <a16:creationId xmlns:a16="http://schemas.microsoft.com/office/drawing/2014/main" id="{61C4D5F6-39D8-A714-8B41-847E66CA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2768600"/>
            <a:ext cx="1828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3 Wiederholungen</a:t>
            </a:r>
          </a:p>
        </p:txBody>
      </p:sp>
      <p:sp>
        <p:nvSpPr>
          <p:cNvPr id="20" name="Textfeld 19">
            <a:extLst xmlns:a="http://schemas.openxmlformats.org/drawingml/2006/main">
              <a:ext uri="{FF2B5EF4-FFF2-40B4-BE49-F238E27FC236}">
                <a16:creationId xmlns:a16="http://schemas.microsoft.com/office/drawing/2014/main" id="{E915D50D-A018-B7F4-2C2C-85DE5AF4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292600"/>
            <a:ext cx="2286000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Jeder Lauf bleibt getrennt gespeichert.</a:t>
            </a:r>
          </a:p>
        </p:txBody>
      </p:sp>
      <p:sp>
        <p:nvSpPr>
          <p:cNvPr id="21" name="Ellipse 20">
            <a:extLst xmlns:a="http://schemas.openxmlformats.org/drawingml/2006/main">
              <a:ext uri="{FF2B5EF4-FFF2-40B4-BE49-F238E27FC236}">
                <a16:creationId xmlns:a16="http://schemas.microsoft.com/office/drawing/2014/main" id="{724C6042-A0C5-65DC-EC17-AE62A155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3606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feld 21">
            <a:extLst xmlns:a="http://schemas.openxmlformats.org/drawingml/2006/main">
              <a:ext uri="{FF2B5EF4-FFF2-40B4-BE49-F238E27FC236}">
                <a16:creationId xmlns:a16="http://schemas.microsoft.com/office/drawing/2014/main" id="{34B50A7A-7DC5-9A69-6970-3BEE33E6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100" y="2768600"/>
            <a:ext cx="1828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E2E-Zeit</a:t>
            </a:r>
          </a:p>
        </p:txBody>
      </p:sp>
      <p:sp>
        <p:nvSpPr>
          <p:cNvPr id="23" name="Textfeld 22">
            <a:extLst xmlns:a="http://schemas.openxmlformats.org/drawingml/2006/main">
              <a:ext uri="{FF2B5EF4-FFF2-40B4-BE49-F238E27FC236}">
                <a16:creationId xmlns:a16="http://schemas.microsoft.com/office/drawing/2014/main" id="{D70C50A4-A13D-99FF-9D39-85142C41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4292600"/>
            <a:ext cx="2286000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Retrieval, Vorbereitung und Generierung werden sichtbar.</a:t>
            </a:r>
          </a:p>
        </p:txBody>
      </p:sp>
      <p:sp>
        <p:nvSpPr>
          <p:cNvPr id="24" name="Textfeld 23">
            <a:extLst xmlns:a="http://schemas.openxmlformats.org/drawingml/2006/main">
              <a:ext uri="{FF2B5EF4-FFF2-40B4-BE49-F238E27FC236}">
                <a16:creationId xmlns:a16="http://schemas.microsoft.com/office/drawing/2014/main" id="{5DF6F882-C4E1-C7AC-3CAE-6E072565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5588000"/>
            <a:ext cx="74930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40 Fragen × 3 Bedingungen × 2 Modelle × 3 Wiederholungen = 720 Kern-Trials</a:t>
            </a:r>
          </a:p>
        </p:txBody>
      </p:sp>
    </p:spTree>
    <p:extLst>
      <p:ext uri="{BB962C8B-B14F-4D97-AF65-F5344CB8AC3E}">
        <p14:creationId xmlns:p14="http://schemas.microsoft.com/office/powerpoint/2010/main" val="1111701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9ADC2163-251A-BD52-6EC5-4C5F7557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AUSWERTUNG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B5352BD0-5E6B-854A-8C66-8DA08003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Ein Ergebnis muss erklärbar sein.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820656A4-1FD9-09EE-92C8-11B88753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AE8032EC-B87A-AC3D-5D25-3188E720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5B3313BA-38A7-A1E4-1435-76CFFC15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7" name="Textfeld 6">
            <a:extLst xmlns:a="http://schemas.openxmlformats.org/drawingml/2006/main">
              <a:ext uri="{FF2B5EF4-FFF2-40B4-BE49-F238E27FC236}">
                <a16:creationId xmlns:a16="http://schemas.microsoft.com/office/drawing/2014/main" id="{C95843B0-81A0-CD02-8FCE-7E763E70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603500"/>
            <a:ext cx="28575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60A5FA"/>
                </a:solidFill>
                <a:latin typeface="Century Schoolbook"/>
                <a:ea typeface="Century Schoolbook"/>
                <a:cs typeface="Century Schoolbook"/>
              </a:rPr>
              <a:t>Antworten</a:t>
            </a: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B43E9457-BF54-1F74-B801-28AB6F7C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38500"/>
            <a:ext cx="285750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Korrekt? Teilweise? Enthaltung? Verblindete Doppelbewertung.</a:t>
            </a:r>
          </a:p>
        </p:txBody>
      </p:sp>
      <p:sp>
        <p:nvSpPr>
          <p:cNvPr id="9" name="Textfeld 8">
            <a:extLst xmlns:a="http://schemas.openxmlformats.org/drawingml/2006/main">
              <a:ext uri="{FF2B5EF4-FFF2-40B4-BE49-F238E27FC236}">
                <a16:creationId xmlns:a16="http://schemas.microsoft.com/office/drawing/2014/main" id="{CA0CAD07-F12D-A83D-5BE8-71DDDED3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603500"/>
            <a:ext cx="28575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EEAD4"/>
                </a:solidFill>
                <a:latin typeface="Century Schoolbook"/>
                <a:ea typeface="Century Schoolbook"/>
                <a:cs typeface="Century Schoolbook"/>
              </a:rPr>
              <a:t>Evidenz</a:t>
            </a: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F936A62B-5D24-F25E-F130-4B7F0D71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238500"/>
            <a:ext cx="285750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War der Goldpfad überhaupt im Kontext – oder scheiterte das Retrieval?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DEA8DA14-01FE-BD3D-AC85-05266EB7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3500"/>
            <a:ext cx="28575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FBBF24"/>
                </a:solidFill>
                <a:latin typeface="Century Schoolbook"/>
                <a:ea typeface="Century Schoolbook"/>
                <a:cs typeface="Century Schoolbook"/>
              </a:rPr>
              <a:t>Ressourcen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2B2DB82E-D0AF-1018-4368-970D247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285750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p50/p95 der End-to-End-Zeit, Retrievalzeit und Kontextgröße.</a:t>
            </a:r>
          </a:p>
        </p:txBody>
      </p:sp>
      <p:sp>
        <p:nvSpPr>
          <p:cNvPr id="13" name="Textfeld 12">
            <a:extLst xmlns:a="http://schemas.openxmlformats.org/drawingml/2006/main">
              <a:ext uri="{FF2B5EF4-FFF2-40B4-BE49-F238E27FC236}">
                <a16:creationId xmlns:a16="http://schemas.microsoft.com/office/drawing/2014/main" id="{79D46199-EF71-A503-BD76-C15DC796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5511800"/>
            <a:ext cx="79756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So kann ein Nullbefund genauso aufschlussreich sein wie ein Graph-RAG-Vorteil.</a:t>
            </a:r>
          </a:p>
        </p:txBody>
      </p:sp>
    </p:spTree>
    <p:extLst>
      <p:ext uri="{BB962C8B-B14F-4D97-AF65-F5344CB8AC3E}">
        <p14:creationId xmlns:p14="http://schemas.microsoft.com/office/powerpoint/2010/main" val="32908771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EAB24C8A-5A30-DA33-908F-0F99B7E2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UMSETZUNG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6BAAB3A0-C604-3927-EFD8-873DC025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Die App verbindet Korpus, Retrieval und lokales Modell.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4F5FD02B-92DA-501D-5F70-B87232AE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0FDAC74A-3C71-E4D9-E039-C29EC4A5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912AFB91-CE0A-D628-B758-231D7644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1AEE7884-9D34-B941-5775-2C8DC8DB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838200"/>
            <a:ext cx="1079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0632E20E-616B-1331-47DB-2A9363C9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Die App macht den Vergleich messbar.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C26AD18E-63D0-7F62-D0D9-AC0A982A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41" name="Gerade Verbindung mit Pfeil 9"/>
          <p:cNvCxnSpPr/>
          <p:nvPr/>
        </p:nvCxnSpPr>
        <p:spPr>
          <a:xfrm xmlns:a="http://schemas.openxmlformats.org/drawingml/2006/main">
            <a:off x="2514600" y="3810000"/>
            <a:ext cx="1879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5EEAD4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2" name="Gerade Verbindung mit Pfeil 10"/>
          <p:cNvCxnSpPr/>
          <p:nvPr/>
        </p:nvCxnSpPr>
        <p:spPr>
          <a:xfrm xmlns:a="http://schemas.openxmlformats.org/drawingml/2006/main">
            <a:off x="5740400" y="3810000"/>
            <a:ext cx="1879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5EEAD4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3" name="Gerade Verbindung mit Pfeil 11"/>
          <p:cNvCxnSpPr/>
          <p:nvPr/>
        </p:nvCxnSpPr>
        <p:spPr>
          <a:xfrm xmlns:a="http://schemas.openxmlformats.org/drawingml/2006/main">
            <a:off x="8966200" y="3810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5EEAD4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Ellipse 12">
            <a:extLst xmlns:a="http://schemas.openxmlformats.org/drawingml/2006/main">
              <a:ext uri="{FF2B5EF4-FFF2-40B4-BE49-F238E27FC236}">
                <a16:creationId xmlns:a16="http://schemas.microsoft.com/office/drawing/2014/main" id="{F197E692-200E-E9B6-6880-7E4EC1F1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35306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Ellipse 13">
            <a:extLst xmlns:a="http://schemas.openxmlformats.org/drawingml/2006/main">
              <a:ext uri="{FF2B5EF4-FFF2-40B4-BE49-F238E27FC236}">
                <a16:creationId xmlns:a16="http://schemas.microsoft.com/office/drawing/2014/main" id="{3DC1F91F-C163-B61D-EA83-0532EA88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600" y="35306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Ellipse 14">
            <a:extLst xmlns:a="http://schemas.openxmlformats.org/drawingml/2006/main">
              <a:ext uri="{FF2B5EF4-FFF2-40B4-BE49-F238E27FC236}">
                <a16:creationId xmlns:a16="http://schemas.microsoft.com/office/drawing/2014/main" id="{03177AEC-7380-6FDC-C8C5-7BE0B5C3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306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Ellipse 15">
            <a:extLst xmlns:a="http://schemas.openxmlformats.org/drawingml/2006/main">
              <a:ext uri="{FF2B5EF4-FFF2-40B4-BE49-F238E27FC236}">
                <a16:creationId xmlns:a16="http://schemas.microsoft.com/office/drawing/2014/main" id="{045A0CFE-D7A4-D1EA-8BEA-03FE7724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200" y="35306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feld 16">
            <a:extLst xmlns:a="http://schemas.openxmlformats.org/drawingml/2006/main">
              <a:ext uri="{FF2B5EF4-FFF2-40B4-BE49-F238E27FC236}">
                <a16:creationId xmlns:a16="http://schemas.microsoft.com/office/drawing/2014/main" id="{E0D5B957-2474-ACA8-9CB0-229F9767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4368800"/>
            <a:ext cx="19304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Eingefrorener Korpus</a:t>
            </a:r>
          </a:p>
        </p:txBody>
      </p:sp>
      <p:sp>
        <p:nvSpPr>
          <p:cNvPr id="18" name="Textfeld 17">
            <a:extLst xmlns:a="http://schemas.openxmlformats.org/drawingml/2006/main">
              <a:ext uri="{FF2B5EF4-FFF2-40B4-BE49-F238E27FC236}">
                <a16:creationId xmlns:a16="http://schemas.microsoft.com/office/drawing/2014/main" id="{379844B2-F162-A920-102C-2C593DC4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368800"/>
            <a:ext cx="1930400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Vektor- und Graphindex</a:t>
            </a:r>
          </a:p>
        </p:txBody>
      </p:sp>
      <p:sp>
        <p:nvSpPr>
          <p:cNvPr id="19" name="Textfeld 18">
            <a:extLst xmlns:a="http://schemas.openxmlformats.org/drawingml/2006/main">
              <a:ext uri="{FF2B5EF4-FFF2-40B4-BE49-F238E27FC236}">
                <a16:creationId xmlns:a16="http://schemas.microsoft.com/office/drawing/2014/main" id="{EFAB1BA4-7852-2855-677F-80870C33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8800"/>
            <a:ext cx="1930400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WebGPU-LLM im Browser</a:t>
            </a:r>
          </a:p>
        </p:txBody>
      </p:sp>
      <p:sp>
        <p:nvSpPr>
          <p:cNvPr id="20" name="Textfeld 19">
            <a:extLst xmlns:a="http://schemas.openxmlformats.org/drawingml/2006/main">
              <a:ext uri="{FF2B5EF4-FFF2-40B4-BE49-F238E27FC236}">
                <a16:creationId xmlns:a16="http://schemas.microsoft.com/office/drawing/2014/main" id="{AE62DCD1-75BE-BFDB-B783-AC83E405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8800"/>
            <a:ext cx="1727200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Export und Bewertung</a:t>
            </a:r>
          </a:p>
        </p:txBody>
      </p:sp>
      <p:sp>
        <p:nvSpPr>
          <p:cNvPr id="21" name="Textfeld 20">
            <a:extLst xmlns:a="http://schemas.openxmlformats.org/drawingml/2006/main">
              <a:ext uri="{FF2B5EF4-FFF2-40B4-BE49-F238E27FC236}">
                <a16:creationId xmlns:a16="http://schemas.microsoft.com/office/drawing/2014/main" id="{BE4FCE05-DB7F-450B-D12D-5DDC1847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24500"/>
            <a:ext cx="792480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Kein eigenes Backend: Messdaten, Nutzerwissen und Modellinferenz bleiben auf dem Gerät.</a:t>
            </a:r>
          </a:p>
        </p:txBody>
      </p:sp>
    </p:spTree>
    <p:extLst>
      <p:ext uri="{BB962C8B-B14F-4D97-AF65-F5344CB8AC3E}">
        <p14:creationId xmlns:p14="http://schemas.microsoft.com/office/powerpoint/2010/main" val="2617607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9922FED-89B4-F92D-E6C6-F898BBED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UMSETZUNG UND HÜRDEN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D3999307-2AE0-E044-110C-1FBA7880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Eine faire Studie entsteht nicht nur durch mehr Code.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79572603-1491-2650-D885-90A58268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B030EBBD-436D-7C65-F447-1166CC6E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14B9E655-9A65-9A02-180C-416BADBE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AF11B875-1A82-D105-AA83-DA43D01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838200"/>
            <a:ext cx="1079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7CBE1119-0FF8-C53D-C040-21649302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Faire Messung ist mehr als Code.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0E68B6AB-439B-A54D-6914-3499DD8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48587CFF-233E-865F-4A09-86F04EB1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3000"/>
            <a:ext cx="3200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1 · Reproduzierbarkeit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A57A4D74-61B1-B1DB-5898-1E962616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312420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Wikipedia ändert sich. Deshalb habe ich einen kuratierten Messgraphen eingefroren.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E9AD14D8-D508-D5D4-D976-D4CA71C4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3000"/>
            <a:ext cx="3200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2 · Faire Bedingungen</a:t>
            </a:r>
          </a:p>
        </p:txBody>
      </p:sp>
      <p:sp>
        <p:nvSpPr>
          <p:cNvPr id="13" name="Textfeld 12">
            <a:extLst xmlns:a="http://schemas.openxmlformats.org/drawingml/2006/main">
              <a:ext uri="{FF2B5EF4-FFF2-40B4-BE49-F238E27FC236}">
                <a16:creationId xmlns:a16="http://schemas.microsoft.com/office/drawing/2014/main" id="{15019B7B-DC7B-C04C-6236-EA50A11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3124200" cy="1046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Graph-Kontexte können länger sein. Budgetkontrolle, gleiche Prompts und Rotation reduzieren Verzerrungen.</a:t>
            </a:r>
          </a:p>
        </p:txBody>
      </p:sp>
      <p:sp>
        <p:nvSpPr>
          <p:cNvPr id="14" name="Textfeld 13">
            <a:extLst xmlns:a="http://schemas.openxmlformats.org/drawingml/2006/main">
              <a:ext uri="{FF2B5EF4-FFF2-40B4-BE49-F238E27FC236}">
                <a16:creationId xmlns:a16="http://schemas.microsoft.com/office/drawing/2014/main" id="{E20B8171-2E52-77C9-DA40-E0B0F6D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3000"/>
            <a:ext cx="3200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3 · Mobile Laufzeit</a:t>
            </a:r>
          </a:p>
        </p:txBody>
      </p:sp>
      <p:sp>
        <p:nvSpPr>
          <p:cNvPr id="15" name="Textfeld 14">
            <a:extLst xmlns:a="http://schemas.openxmlformats.org/drawingml/2006/main">
              <a:ext uri="{FF2B5EF4-FFF2-40B4-BE49-F238E27FC236}">
                <a16:creationId xmlns:a16="http://schemas.microsoft.com/office/drawing/2014/main" id="{AD626CE4-BE25-7FA5-35C0-F3373DC9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124200" cy="1046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WebGPU, Modell- und Embedding-Downloads, Wärme und Cache-Zustände können Messungen beeinflussen.</a:t>
            </a:r>
          </a:p>
        </p:txBody>
      </p:sp>
      <p:sp>
        <p:nvSpPr>
          <p:cNvPr id="16" name="Textfeld 15">
            <a:extLst xmlns:a="http://schemas.openxmlformats.org/drawingml/2006/main">
              <a:ext uri="{FF2B5EF4-FFF2-40B4-BE49-F238E27FC236}">
                <a16:creationId xmlns:a16="http://schemas.microsoft.com/office/drawing/2014/main" id="{11F9AE33-1AEF-1DEB-7AEA-7D467D0D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5308600"/>
            <a:ext cx="797560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Weitere Prüfaufgabe vor dem Hauptlauf: Fakten, Goldpfade und Hop-Tiefen des Katalogs einzeln gegen den Korpus kontrollieren.</a:t>
            </a:r>
          </a:p>
        </p:txBody>
      </p:sp>
    </p:spTree>
    <p:extLst>
      <p:ext uri="{BB962C8B-B14F-4D97-AF65-F5344CB8AC3E}">
        <p14:creationId xmlns:p14="http://schemas.microsoft.com/office/powerpoint/2010/main" val="1853910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18A324EA-ACA5-1DC9-D440-816C34E7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ENTWICKLUNG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76B76AD5-641D-1111-7ED7-0F35F792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Das Projekt entstand in prüfbaren Schleifen.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30A3E458-13F9-B08D-A862-9744685F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13A07716-A32F-0FC6-988C-E804721E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DB7BF1D3-9ECA-1231-5B34-F1298195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41453CC7-7234-6AEA-C40C-40ACE799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838200"/>
            <a:ext cx="1079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021FE607-737B-7788-CB57-F8FBEBAA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Das Projekt entstand in prüfbaren Schleifen.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F11D524E-306E-D9F1-46C0-A54DB341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C06DF02C-660B-4439-BB25-C0C1EE91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905000"/>
            <a:ext cx="10795000" cy="165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44" name="Gerade Verbindung mit Pfeil 10"/>
          <p:cNvCxnSpPr/>
          <p:nvPr/>
        </p:nvCxnSpPr>
        <p:spPr>
          <a:xfrm xmlns:a="http://schemas.openxmlformats.org/drawingml/2006/main">
            <a:off x="1778000" y="3835400"/>
            <a:ext cx="8636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94A3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" name="Ellipse 11">
            <a:extLst xmlns:a="http://schemas.openxmlformats.org/drawingml/2006/main">
              <a:ext uri="{FF2B5EF4-FFF2-40B4-BE49-F238E27FC236}">
                <a16:creationId xmlns:a16="http://schemas.microsoft.com/office/drawing/2014/main" id="{DA8378AD-334E-E7E3-E5E2-2CF81150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00" y="3606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feld 12">
            <a:extLst xmlns:a="http://schemas.openxmlformats.org/drawingml/2006/main">
              <a:ext uri="{FF2B5EF4-FFF2-40B4-BE49-F238E27FC236}">
                <a16:creationId xmlns:a16="http://schemas.microsoft.com/office/drawing/2014/main" id="{4ADFB3E2-A09C-11D0-DBB1-77607150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768600"/>
            <a:ext cx="1828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Idee + Korpus</a:t>
            </a:r>
          </a:p>
        </p:txBody>
      </p:sp>
      <p:sp>
        <p:nvSpPr>
          <p:cNvPr id="14" name="Textfeld 13">
            <a:extLst xmlns:a="http://schemas.openxmlformats.org/drawingml/2006/main">
              <a:ext uri="{FF2B5EF4-FFF2-40B4-BE49-F238E27FC236}">
                <a16:creationId xmlns:a16="http://schemas.microsoft.com/office/drawing/2014/main" id="{14B8D370-436C-F280-66AF-C0B3BCF3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292600"/>
            <a:ext cx="2286000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Forschungsfrage, 75 Knoten und 40 Testfragen.</a:t>
            </a:r>
          </a:p>
        </p:txBody>
      </p:sp>
      <p:sp>
        <p:nvSpPr>
          <p:cNvPr id="15" name="Ellipse 14">
            <a:extLst xmlns:a="http://schemas.openxmlformats.org/drawingml/2006/main">
              <a:ext uri="{FF2B5EF4-FFF2-40B4-BE49-F238E27FC236}">
                <a16:creationId xmlns:a16="http://schemas.microsoft.com/office/drawing/2014/main" id="{6B12DBB2-34CF-88F1-1054-59E93879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06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feld 15">
            <a:extLst xmlns:a="http://schemas.openxmlformats.org/drawingml/2006/main">
              <a:ext uri="{FF2B5EF4-FFF2-40B4-BE49-F238E27FC236}">
                <a16:creationId xmlns:a16="http://schemas.microsoft.com/office/drawing/2014/main" id="{83E03398-AEBA-D4C6-7C71-7705511F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100" y="2768600"/>
            <a:ext cx="1828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Messdesign</a:t>
            </a:r>
          </a:p>
        </p:txBody>
      </p:sp>
      <p:sp>
        <p:nvSpPr>
          <p:cNvPr id="17" name="Textfeld 16">
            <a:extLst xmlns:a="http://schemas.openxmlformats.org/drawingml/2006/main">
              <a:ext uri="{FF2B5EF4-FFF2-40B4-BE49-F238E27FC236}">
                <a16:creationId xmlns:a16="http://schemas.microsoft.com/office/drawing/2014/main" id="{A45D9A41-C632-9D18-05DE-FA001A5A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4292600"/>
            <a:ext cx="2286000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Seeds, Rotation, E2E-Zeit und Doppelbewertung.</a:t>
            </a:r>
          </a:p>
        </p:txBody>
      </p:sp>
      <p:sp>
        <p:nvSpPr>
          <p:cNvPr id="18" name="Ellipse 17">
            <a:extLst xmlns:a="http://schemas.openxmlformats.org/drawingml/2006/main">
              <a:ext uri="{FF2B5EF4-FFF2-40B4-BE49-F238E27FC236}">
                <a16:creationId xmlns:a16="http://schemas.microsoft.com/office/drawing/2014/main" id="{D2F80169-EC2C-A8B4-4B80-D35DE96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3606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feld 18">
            <a:extLst xmlns:a="http://schemas.openxmlformats.org/drawingml/2006/main">
              <a:ext uri="{FF2B5EF4-FFF2-40B4-BE49-F238E27FC236}">
                <a16:creationId xmlns:a16="http://schemas.microsoft.com/office/drawing/2014/main" id="{61C4D5F6-39D8-A714-8B41-847E66CA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2768600"/>
            <a:ext cx="1828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Offline + Wissen</a:t>
            </a:r>
          </a:p>
        </p:txBody>
      </p:sp>
      <p:sp>
        <p:nvSpPr>
          <p:cNvPr id="20" name="Textfeld 19">
            <a:extLst xmlns:a="http://schemas.openxmlformats.org/drawingml/2006/main">
              <a:ext uri="{FF2B5EF4-FFF2-40B4-BE49-F238E27FC236}">
                <a16:creationId xmlns:a16="http://schemas.microsoft.com/office/drawing/2014/main" id="{E915D50D-A018-B7F4-2C2C-85DE5AF4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292600"/>
            <a:ext cx="2286000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Lokale Pakete, Dense Retrieval, PDFs und MediaWiki-Links.</a:t>
            </a:r>
          </a:p>
        </p:txBody>
      </p:sp>
      <p:sp>
        <p:nvSpPr>
          <p:cNvPr id="21" name="Ellipse 20">
            <a:extLst xmlns:a="http://schemas.openxmlformats.org/drawingml/2006/main">
              <a:ext uri="{FF2B5EF4-FFF2-40B4-BE49-F238E27FC236}">
                <a16:creationId xmlns:a16="http://schemas.microsoft.com/office/drawing/2014/main" id="{724C6042-A0C5-65DC-EC17-AE62A155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3606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feld 21">
            <a:extLst xmlns:a="http://schemas.openxmlformats.org/drawingml/2006/main">
              <a:ext uri="{FF2B5EF4-FFF2-40B4-BE49-F238E27FC236}">
                <a16:creationId xmlns:a16="http://schemas.microsoft.com/office/drawing/2014/main" id="{34B50A7A-7DC5-9A69-6970-3BEE33E6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100" y="2768600"/>
            <a:ext cx="1828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Demo + Prüfung</a:t>
            </a:r>
          </a:p>
        </p:txBody>
      </p:sp>
      <p:sp>
        <p:nvSpPr>
          <p:cNvPr id="23" name="Textfeld 22">
            <a:extLst xmlns:a="http://schemas.openxmlformats.org/drawingml/2006/main">
              <a:ext uri="{FF2B5EF4-FFF2-40B4-BE49-F238E27FC236}">
                <a16:creationId xmlns:a16="http://schemas.microsoft.com/office/drawing/2014/main" id="{D70C50A4-A13D-99FF-9D39-85142C41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4292600"/>
            <a:ext cx="2286000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Live-Quiz, Modellvergleich, Ablation und Export.</a:t>
            </a:r>
          </a:p>
        </p:txBody>
      </p:sp>
      <p:sp>
        <p:nvSpPr>
          <p:cNvPr id="24" name="Textfeld 23">
            <a:extLst xmlns:a="http://schemas.openxmlformats.org/drawingml/2006/main">
              <a:ext uri="{FF2B5EF4-FFF2-40B4-BE49-F238E27FC236}">
                <a16:creationId xmlns:a16="http://schemas.microsoft.com/office/drawing/2014/main" id="{5DF6F882-C4E1-C7AC-3CAE-6E072565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5588000"/>
            <a:ext cx="74930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Kein Schritt war im ersten Chat „fertig“: testen → Fehler zeigen → korrigieren → erneut prüfen.</a:t>
            </a:r>
          </a:p>
        </p:txBody>
      </p:sp>
    </p:spTree>
    <p:extLst>
      <p:ext uri="{BB962C8B-B14F-4D97-AF65-F5344CB8AC3E}">
        <p14:creationId xmlns:p14="http://schemas.microsoft.com/office/powerpoint/2010/main" val="1111701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9922FED-89B4-F92D-E6C6-F898BBED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EHRLICHE TECHNISCHE HÜRDEN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D3999307-2AE0-E044-110C-1FBA7880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„Offline“ war mehr als ein Schalter.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79572603-1491-2650-D885-90A58268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B030EBBD-436D-7C65-F447-1166CC6E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14B9E655-9A65-9A02-180C-416BADBE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AF11B875-1A82-D105-AA83-DA43D01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838200"/>
            <a:ext cx="1079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7CBE1119-0FF8-C53D-C040-21649302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„Offline“ war mehr als ein Schalter.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0E68B6AB-439B-A54D-6914-3499DD8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48587CFF-233E-865F-4A09-86F04EB1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3000"/>
            <a:ext cx="3200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1 · CDN statt lokal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A57A4D74-61B1-B1DB-5898-1E962616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3124200" cy="1036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Dynamische Imports liefen über esm.run. Lokale Pakete beseitigten die Abhängigkeit; Modellgewichte werden einmalig geladen.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E9AD14D8-D508-D5D4-D976-D4CA71C4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3000"/>
            <a:ext cx="3200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2 · HTML statt Modell</a:t>
            </a:r>
          </a:p>
        </p:txBody>
      </p:sp>
      <p:sp>
        <p:nvSpPr>
          <p:cNvPr id="13" name="Textfeld 12">
            <a:extLst xmlns:a="http://schemas.openxmlformats.org/drawingml/2006/main">
              <a:ext uri="{FF2B5EF4-FFF2-40B4-BE49-F238E27FC236}">
                <a16:creationId xmlns:a16="http://schemas.microsoft.com/office/drawing/2014/main" id="{15019B7B-DC7B-C04C-6236-EA50A11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3124200" cy="1046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Dense verlangte q8, verfügbar war int8. Eine HTML-404 wurde als JSON gelesen – der Dateiname war die Ursache.</a:t>
            </a:r>
          </a:p>
        </p:txBody>
      </p:sp>
      <p:sp>
        <p:nvSpPr>
          <p:cNvPr id="14" name="Textfeld 13">
            <a:extLst xmlns:a="http://schemas.openxmlformats.org/drawingml/2006/main">
              <a:ext uri="{FF2B5EF4-FFF2-40B4-BE49-F238E27FC236}">
                <a16:creationId xmlns:a16="http://schemas.microsoft.com/office/drawing/2014/main" id="{E20B8171-2E52-77C9-DA40-E0B0F6D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3000"/>
            <a:ext cx="3200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3 · Zustand ging verloren</a:t>
            </a:r>
          </a:p>
        </p:txBody>
      </p:sp>
      <p:sp>
        <p:nvSpPr>
          <p:cNvPr id="15" name="Textfeld 14">
            <a:extLst xmlns:a="http://schemas.openxmlformats.org/drawingml/2006/main">
              <a:ext uri="{FF2B5EF4-FFF2-40B4-BE49-F238E27FC236}">
                <a16:creationId xmlns:a16="http://schemas.microsoft.com/office/drawing/2014/main" id="{AD626CE4-BE25-7FA5-35C0-F3373DC9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124200" cy="1046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Der Test lief nach Seitenwechsel weiter, aber die Anzeige war weg. Status und Abbruch mussten global werden.</a:t>
            </a:r>
          </a:p>
        </p:txBody>
      </p:sp>
      <p:sp>
        <p:nvSpPr>
          <p:cNvPr id="16" name="Textfeld 15">
            <a:extLst xmlns:a="http://schemas.openxmlformats.org/drawingml/2006/main">
              <a:ext uri="{FF2B5EF4-FFF2-40B4-BE49-F238E27FC236}">
                <a16:creationId xmlns:a16="http://schemas.microsoft.com/office/drawing/2014/main" id="{11F9AE33-1AEF-1DEB-7AEA-7D467D0D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5308600"/>
            <a:ext cx="797560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KI half beim Diagnostizieren und Patchen. Sichtbar wurden die Fehler durch meine Screenshots, Tests und Anforderungen.</a:t>
            </a:r>
          </a:p>
        </p:txBody>
      </p:sp>
    </p:spTree>
    <p:extLst>
      <p:ext uri="{BB962C8B-B14F-4D97-AF65-F5344CB8AC3E}">
        <p14:creationId xmlns:p14="http://schemas.microsoft.com/office/powerpoint/2010/main" val="18539106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9922FED-89B4-F92D-E6C6-F898BBED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METHODISCHE KURSKORREKTUREN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D3999307-2AE0-E044-110C-1FBA7880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Mehr Features sind noch keine Validität.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79572603-1491-2650-D885-90A58268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B030EBBD-436D-7C65-F447-1166CC6E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14B9E655-9A65-9A02-180C-416BADBE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AF11B875-1A82-D105-AA83-DA43D01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838200"/>
            <a:ext cx="1079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7CBE1119-0FF8-C53D-C040-21649302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Mehr Features sind noch keine Validität.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0E68B6AB-439B-A54D-6914-3499DD8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48587CFF-233E-865F-4A09-86F04EB1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3000"/>
            <a:ext cx="3200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1 · Altdaten vermischt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A57A4D74-61B1-B1DB-5898-1E962616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3124200" cy="1036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 = 532 bündelte alte Läufe. runId, letzter-Lauf-Filter und Löschfunktion verhindern Scheinpräzision.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E9AD14D8-D508-D5D4-D976-D4CA71C4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3000"/>
            <a:ext cx="3200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2 · Graph-Vorteil unklar</a:t>
            </a:r>
          </a:p>
        </p:txBody>
      </p:sp>
      <p:sp>
        <p:nvSpPr>
          <p:cNvPr id="13" name="Textfeld 12">
            <a:extLst xmlns:a="http://schemas.openxmlformats.org/drawingml/2006/main">
              <a:ext uri="{FF2B5EF4-FFF2-40B4-BE49-F238E27FC236}">
                <a16:creationId xmlns:a16="http://schemas.microsoft.com/office/drawing/2014/main" id="{15019B7B-DC7B-C04C-6236-EA50A11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3124200" cy="1046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Budget-Kontrolle und Graph−Kanten-Ablation trennen Textmenge von expliziter Relationsdarstellung.</a:t>
            </a:r>
          </a:p>
        </p:txBody>
      </p:sp>
      <p:sp>
        <p:nvSpPr>
          <p:cNvPr id="14" name="Textfeld 13">
            <a:extLst xmlns:a="http://schemas.openxmlformats.org/drawingml/2006/main">
              <a:ext uri="{FF2B5EF4-FFF2-40B4-BE49-F238E27FC236}">
                <a16:creationId xmlns:a16="http://schemas.microsoft.com/office/drawing/2014/main" id="{E20B8171-2E52-77C9-DA40-E0B0F6D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3000"/>
            <a:ext cx="3200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3 · Auto-Score zu grob</a:t>
            </a:r>
          </a:p>
        </p:txBody>
      </p:sp>
      <p:sp>
        <p:nvSpPr>
          <p:cNvPr id="15" name="Textfeld 14">
            <a:extLst xmlns:a="http://schemas.openxmlformats.org/drawingml/2006/main">
              <a:ext uri="{FF2B5EF4-FFF2-40B4-BE49-F238E27FC236}">
                <a16:creationId xmlns:a16="http://schemas.microsoft.com/office/drawing/2014/main" id="{AD626CE4-BE25-7FA5-35C0-F3373DC9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124200" cy="1046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Goldbegriffe bleiben Vorprüfung. Verblindete Doppelbewertung und Cohen’s κ sind maßgeblich.</a:t>
            </a:r>
          </a:p>
        </p:txBody>
      </p:sp>
      <p:sp>
        <p:nvSpPr>
          <p:cNvPr id="16" name="Textfeld 15">
            <a:extLst xmlns:a="http://schemas.openxmlformats.org/drawingml/2006/main">
              <a:ext uri="{FF2B5EF4-FFF2-40B4-BE49-F238E27FC236}">
                <a16:creationId xmlns:a16="http://schemas.microsoft.com/office/drawing/2014/main" id="{11F9AE33-1AEF-1DEB-7AEA-7D467D0D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5308600"/>
            <a:ext cx="797560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KI schlug Kontrollen und Statistik vor; ich muss Entscheidungen begründen und Bewertungen real durchführen.</a:t>
            </a:r>
          </a:p>
        </p:txBody>
      </p:sp>
    </p:spTree>
    <p:extLst>
      <p:ext uri="{BB962C8B-B14F-4D97-AF65-F5344CB8AC3E}">
        <p14:creationId xmlns:p14="http://schemas.microsoft.com/office/powerpoint/2010/main" val="18539106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3782F44B-26F5-0DBF-CA2E-AF985AA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KI-BILANZ NACH PHASE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7F6AAAF8-8210-526F-CEE1-182DA876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KI beschleunigte den Bau – nicht die Evidenz.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09582E00-B126-F9E0-1001-8719DA10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9A416168-FC7A-32FF-6829-02CA2C9E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C7223CD7-0CF1-D83E-A81D-75753BEA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7" name="Textfeld 6">
            <a:extLst xmlns:a="http://schemas.openxmlformats.org/drawingml/2006/main">
              <a:ext uri="{FF2B5EF4-FFF2-40B4-BE49-F238E27FC236}">
                <a16:creationId xmlns:a16="http://schemas.microsoft.com/office/drawing/2014/main" id="{6BF91BE4-1034-6144-E66A-1FB9B65A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336800"/>
            <a:ext cx="4191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Stark geholfen</a:t>
            </a: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ADC8BCC9-632D-3F74-1976-FD5CD90B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997200"/>
            <a:ext cx="4191000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• Codeentwürfe und Refactorings
• Fehlersuche anhand meiner Logs
• UI-, Folien- und Textvarianten
• Checklisten, Exporte und Tests
• Gegenargumente und Kontrollen</a:t>
            </a:r>
          </a:p>
        </p:txBody>
      </p:sp>
      <p:cxnSp>
        <p:nvCxnSpPr>
          <p:cNvPr id="28" name="Gerade Verbindung mit Pfeil 8"/>
          <p:cNvCxnSpPr/>
          <p:nvPr/>
        </p:nvCxnSpPr>
        <p:spPr>
          <a:xfrm xmlns:a="http://schemas.openxmlformats.org/drawingml/2006/main">
            <a:off x="6273800" y="2336800"/>
            <a:ext cx="0" cy="30226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94A3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00D524B9-690C-3CB1-80E2-934804DA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2336800"/>
            <a:ext cx="3937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Nicht delegierbar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8C1744CC-B303-DFC9-05C7-38EFA497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2997200"/>
            <a:ext cx="3937000" cy="1461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Ich legte Fragestellung und Anforderungen fest, wählte Varianten und testete die App. KI hat weder den Hauptlauf noch die unabhängige Zweitbewertung durchgeführt.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5CB1DB35-55A6-5990-AFBD-2831F4F3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89600"/>
            <a:ext cx="825500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Meine Bilanz: hohe Produktionshilfe · mittlere methodische Ideengebung · keine eigenständige empirische Evidenz</a:t>
            </a:r>
          </a:p>
        </p:txBody>
      </p:sp>
    </p:spTree>
    <p:extLst>
      <p:ext uri="{BB962C8B-B14F-4D97-AF65-F5344CB8AC3E}">
        <p14:creationId xmlns:p14="http://schemas.microsoft.com/office/powerpoint/2010/main" val="40157715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E782C2AE-68C3-13E7-7E42-F62577F0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ARTEFAKT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62DBA14D-CBF8-1A1F-6BD1-DF83DB0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Mein Messinstrument zeigt den Weg zur Antwort.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E0E5EBBA-7B42-3266-1637-AD6D8FA9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1F906A8C-E622-78B0-F9C2-D470B002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93CE4A85-AB53-8A0E-53DF-BC866BDF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75C8A18E-8633-DA1C-91C7-6DF6DAB0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838200"/>
            <a:ext cx="1079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BCB4C7EA-2F97-058F-80B4-5E25BBE4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Der Weg zur Antwort bleibt sichtbar.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4017AB67-1B0E-968E-B521-18D58A16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FACC695D-5721-E50C-9096-118DBBC5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5400"/>
            <a:ext cx="3276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FRAGE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834182F3-DE7F-A26C-B006-423E077F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565400"/>
            <a:ext cx="2895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RETRIEVAL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2E551FC1-7764-118B-F3C9-D921087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65400"/>
            <a:ext cx="2895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ANTWORT</a:t>
            </a:r>
          </a:p>
        </p:txBody>
      </p:sp>
      <p:cxnSp>
        <p:nvCxnSpPr>
          <p:cNvPr id="43" name="Gerade Verbindung mit Pfeil 12"/>
          <p:cNvCxnSpPr/>
          <p:nvPr/>
        </p:nvCxnSpPr>
        <p:spPr>
          <a:xfrm xmlns:a="http://schemas.openxmlformats.org/drawingml/2006/main">
            <a:off x="3175000" y="3530600"/>
            <a:ext cx="1422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5EEAD4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4" name="Gerade Verbindung mit Pfeil 13"/>
          <p:cNvCxnSpPr/>
          <p:nvPr/>
        </p:nvCxnSpPr>
        <p:spPr>
          <a:xfrm xmlns:a="http://schemas.openxmlformats.org/drawingml/2006/main">
            <a:off x="7416800" y="3530600"/>
            <a:ext cx="7112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5EEAD4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FD533D-4BE4-F2A2-3DF3-938077F1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175000"/>
            <a:ext cx="226060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Welche Verbindung führt von Hegel zu Kierkegaard?</a:t>
            </a:r>
          </a:p>
        </p:txBody>
      </p:sp>
      <p:sp>
        <p:nvSpPr>
          <p:cNvPr id="16" name="Textfeld 15">
            <a:extLst xmlns:a="http://schemas.openxmlformats.org/drawingml/2006/main">
              <a:ext uri="{FF2B5EF4-FFF2-40B4-BE49-F238E27FC236}">
                <a16:creationId xmlns:a16="http://schemas.microsoft.com/office/drawing/2014/main" id="{6081FCBF-4E8B-F47D-D4B6-73467939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75000"/>
            <a:ext cx="261620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Kontext, Knoten und Kanten bleiben offenlegbar.</a:t>
            </a:r>
          </a:p>
        </p:txBody>
      </p:sp>
      <p:sp>
        <p:nvSpPr>
          <p:cNvPr id="17" name="Textfeld 16">
            <a:extLst xmlns:a="http://schemas.openxmlformats.org/drawingml/2006/main">
              <a:ext uri="{FF2B5EF4-FFF2-40B4-BE49-F238E27FC236}">
                <a16:creationId xmlns:a16="http://schemas.microsoft.com/office/drawing/2014/main" id="{3133B6F6-3A3A-2686-EE31-0BA3D383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75000"/>
            <a:ext cx="254000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Antwort, Laufzeit und Evidenz sind exportierbar.</a:t>
            </a:r>
          </a:p>
        </p:txBody>
      </p:sp>
      <p:sp>
        <p:nvSpPr>
          <p:cNvPr id="18" name="Textfeld 17">
            <a:extLst xmlns:a="http://schemas.openxmlformats.org/drawingml/2006/main">
              <a:ext uri="{FF2B5EF4-FFF2-40B4-BE49-F238E27FC236}">
                <a16:creationId xmlns:a16="http://schemas.microsoft.com/office/drawing/2014/main" id="{5792CF4E-BDC9-6CD3-3AAD-B34DF1B4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5016500"/>
            <a:ext cx="7493000" cy="615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Die App ist nicht nur eine Demo. Sie ist das Messinstrument für einen transparenten Vergleich.</a:t>
            </a:r>
          </a:p>
        </p:txBody>
      </p:sp>
    </p:spTree>
    <p:extLst>
      <p:ext uri="{BB962C8B-B14F-4D97-AF65-F5344CB8AC3E}">
        <p14:creationId xmlns:p14="http://schemas.microsoft.com/office/powerpoint/2010/main" val="15082915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7A6D460A-450A-50EA-B6E9-0EF5F1CC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EINORDNUNG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2999C40C-5B86-539A-A72A-F518088C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Graph-RAG ist nicht einfach „besser“.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A7F0FD44-C354-EC48-DCB8-4115DD1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754E73F4-A133-08DB-3E93-36D1C7AA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FBB28E06-5B56-DC13-7CF4-3F84C606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7" name="Textfeld 6">
            <a:extLst xmlns:a="http://schemas.openxmlformats.org/drawingml/2006/main">
              <a:ext uri="{FF2B5EF4-FFF2-40B4-BE49-F238E27FC236}">
                <a16:creationId xmlns:a16="http://schemas.microsoft.com/office/drawing/2014/main" id="{81A2FFCE-1BF9-177C-AA72-B2053E24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603500"/>
            <a:ext cx="85090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Sondern wann explizite Struktur ihren Preis wert ist.</a:t>
            </a:r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6F55A672-2616-ABCD-CE9A-48056B33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11600"/>
            <a:ext cx="50292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feld 8">
            <a:extLst xmlns:a="http://schemas.openxmlformats.org/drawingml/2006/main">
              <a:ext uri="{FF2B5EF4-FFF2-40B4-BE49-F238E27FC236}">
                <a16:creationId xmlns:a16="http://schemas.microsoft.com/office/drawing/2014/main" id="{0CBE0F2C-3F85-F764-C8DC-E86AAF30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94200"/>
            <a:ext cx="723900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Ich dokumentiere auch Null- und Negativbefunde – sowie meinen iterativen KI-Einsatz mit Claude und ChatGPT – vollständig im Transparenz-Bericht.</a:t>
            </a: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C6CBF89A-4CED-1CDC-485C-715E63C3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300" y="5562600"/>
            <a:ext cx="56134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Nächster Schritt: Messläufe · Bewertung · nachvollziehbare Ergebnisse</a:t>
            </a:r>
          </a:p>
        </p:txBody>
      </p:sp>
    </p:spTree>
    <p:extLst>
      <p:ext uri="{BB962C8B-B14F-4D97-AF65-F5344CB8AC3E}">
        <p14:creationId xmlns:p14="http://schemas.microsoft.com/office/powerpoint/2010/main" val="3715482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9FD4CEF5-D56F-32E9-EDD7-8B81639E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PILOT UND FREIGABE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240847F6-71FE-0DD3-500D-4556C823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Erst prüfen, dann behaupten.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12FE3F43-AEAC-C622-DA01-AF8DF520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15008046-8CF0-3C5C-273B-076A7C56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F536EB83-E609-A59E-F769-F2AAF11F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7" name="Textfeld 6">
            <a:extLst xmlns:a="http://schemas.openxmlformats.org/drawingml/2006/main">
              <a:ext uri="{FF2B5EF4-FFF2-40B4-BE49-F238E27FC236}">
                <a16:creationId xmlns:a16="http://schemas.microsoft.com/office/drawing/2014/main" id="{BACBF5BD-8CE6-6A23-F19F-F303C785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463800"/>
            <a:ext cx="3302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1  Messstand einfrieren</a:t>
            </a: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C4131FDA-6F51-2552-EC12-6E46F35D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022600"/>
            <a:ext cx="317500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Commit, Gerät, Browser, Modelle, Seeds und Cache-Zustand dokumentieren.</a:t>
            </a:r>
          </a:p>
        </p:txBody>
      </p:sp>
      <p:sp>
        <p:nvSpPr>
          <p:cNvPr id="9" name="Textfeld 8">
            <a:extLst xmlns:a="http://schemas.openxmlformats.org/drawingml/2006/main">
              <a:ext uri="{FF2B5EF4-FFF2-40B4-BE49-F238E27FC236}">
                <a16:creationId xmlns:a16="http://schemas.microsoft.com/office/drawing/2014/main" id="{32573D21-25C9-A9A2-DE17-A1000105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463800"/>
            <a:ext cx="3048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2  Korpus kontrollieren</a:t>
            </a: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97AF9FF3-8F8E-C3BB-1226-82007549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022600"/>
            <a:ext cx="304800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Alle Goldpfade, Hop-Tiefen und unbeantwortbaren Fragen gegen den Korpus prüfen.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8C12AE48-5A2C-5298-AB0F-7358144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00" y="2463800"/>
            <a:ext cx="2667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3  Pipeline prüfen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1A751500-35DF-1448-E1B4-5F3686B5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00" y="3022600"/>
            <a:ext cx="266700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Zeitmessung, Export und Verblindung zuerst technisch validieren.</a:t>
            </a:r>
          </a:p>
        </p:txBody>
      </p:sp>
      <p:cxnSp>
        <p:nvCxnSpPr>
          <p:cNvPr id="38" name="Gerade Verbindung mit Pfeil 12"/>
          <p:cNvCxnSpPr/>
          <p:nvPr/>
        </p:nvCxnSpPr>
        <p:spPr>
          <a:xfrm xmlns:a="http://schemas.openxmlformats.org/drawingml/2006/main">
            <a:off x="1600200" y="4495800"/>
            <a:ext cx="899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Textfeld 13">
            <a:extLst xmlns:a="http://schemas.openxmlformats.org/drawingml/2006/main">
              <a:ext uri="{FF2B5EF4-FFF2-40B4-BE49-F238E27FC236}">
                <a16:creationId xmlns:a16="http://schemas.microsoft.com/office/drawing/2014/main" id="{7C536AF6-9026-7CEC-460D-2EF567C8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5105400"/>
            <a:ext cx="80264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Demo-Ausgaben sind kein Ergebnis. Erst exportierte und doppelt bewertete WebLLM-Läufe dürfen Hypothesen bestätigen oder widerlegen.</a:t>
            </a:r>
          </a:p>
        </p:txBody>
      </p:sp>
    </p:spTree>
    <p:extLst>
      <p:ext uri="{BB962C8B-B14F-4D97-AF65-F5344CB8AC3E}">
        <p14:creationId xmlns:p14="http://schemas.microsoft.com/office/powerpoint/2010/main" val="18271194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792F099A-8E8D-61D9-9EA7-7B497525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QUELLEN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0078A94C-A558-4003-E6A5-8F8327BC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Theorie, Benchmarks und technische Grundlage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326D373D-8A68-75F5-CB89-EB4DEE1A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B6C99E50-EED1-1F1B-6BD3-F2B3FA07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905E126C-6AE0-3D42-5EDF-1C92190B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64027708-E668-142B-1414-66E01F70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838200"/>
            <a:ext cx="1079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D4987DA3-EB3A-1D38-F4BE-1842FDB8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Quellen und Grundlagen.</a:t>
            </a: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57D6E903-D089-0D38-AD84-4E2D74B9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769D154A-5384-3C83-71E1-0CC3D73F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905000"/>
            <a:ext cx="1079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3B"/>
          </a:solidFill>
          <a:ln xmlns:a="http://schemas.openxmlformats.org/drawingml/2006/main" w="9525">
            <a:solidFill>
              <a:srgbClr val="0F293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168FE4BB-6FF9-3173-44AA-C90E9781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9906000" cy="22852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[1] Lewis et al. (2020). Retrieval-Augmented Generation for Knowledge-Intensive NLP Tasks. NeurIPS.
[2] Edge et al. (2024). From Local to Global: A Graph RAG Approach to Query-Focused Summarization.
[3] Gutiérrez et al. (2024). HippoRAG. NeurIPS.
[4] Yang et al. (2018). HotpotQA. EMNLP.
[5] MLC-Team (2024). WebLLM: High-Performance In-Browser LLM Inference.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F3F58001-636D-E63D-D3F1-2CC4F753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9906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Korpusgrundlage: ausgewählte deutschsprachige Wikipedia-Artikel; konkrete Artikelversionen und Attribution werden im Transparenz-Bericht dokumentiert.</a:t>
            </a:r>
          </a:p>
        </p:txBody>
      </p:sp>
    </p:spTree>
    <p:extLst>
      <p:ext uri="{BB962C8B-B14F-4D97-AF65-F5344CB8AC3E}">
        <p14:creationId xmlns:p14="http://schemas.microsoft.com/office/powerpoint/2010/main" val="13572706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3782F44B-26F5-0DBF-CA2E-AF985AA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82600"/>
            <a:ext cx="6985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KI-DISCLAIMER</a:t>
            </a:r>
          </a:p>
        </p:txBody>
      </p:sp>
      <p:sp>
        <p:nvSpPr>
          <p:cNvPr id="3" name="Textfeld 2">
            <a:extLst xmlns:a="http://schemas.openxmlformats.org/drawingml/2006/main">
              <a:ext uri="{FF2B5EF4-FFF2-40B4-BE49-F238E27FC236}">
                <a16:creationId xmlns:a16="http://schemas.microsoft.com/office/drawing/2014/main" id="{7F6AAAF8-8210-526F-CEE1-182DA876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914400"/>
            <a:ext cx="10668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F8FAFC"/>
                </a:solidFill>
                <a:latin typeface="Century Schoolbook"/>
                <a:ea typeface="Century Schoolbook"/>
                <a:cs typeface="Century Schoolbook"/>
              </a:rPr>
              <a:t>Wo ich KI verwendet habe</a:t>
            </a:r>
          </a:p>
        </p:txBody>
      </p:sp>
      <p:sp>
        <p:nvSpPr>
          <p:cNvPr id="4" name="Rechteck 3">
            <a:extLst xmlns:a="http://schemas.openxmlformats.org/drawingml/2006/main">
              <a:ext uri="{FF2B5EF4-FFF2-40B4-BE49-F238E27FC236}">
                <a16:creationId xmlns:a16="http://schemas.microsoft.com/office/drawing/2014/main" id="{09582E00-B126-F9E0-1001-8719DA10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778000"/>
            <a:ext cx="96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9525">
            <a:solidFill>
              <a:srgbClr val="5EEAD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9A416168-FC7A-32FF-6829-02CA2C9E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553200"/>
            <a:ext cx="76200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Graph-RAG auf dem Smartphone · Proseminar SoSe 2026</a:t>
            </a:r>
          </a:p>
        </p:txBody>
      </p:sp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C7223CD7-0CF1-D83E-A81D-75753BEA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31800" cy="146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7" name="Textfeld 6">
            <a:extLst xmlns:a="http://schemas.openxmlformats.org/drawingml/2006/main">
              <a:ext uri="{FF2B5EF4-FFF2-40B4-BE49-F238E27FC236}">
                <a16:creationId xmlns:a16="http://schemas.microsoft.com/office/drawing/2014/main" id="{6BF91BE4-1034-6144-E66A-1FB9B65A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336800"/>
            <a:ext cx="4191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Claude und ChatGPT im Chat</a:t>
            </a:r>
          </a:p>
        </p:txBody>
      </p:sp>
      <p:sp>
        <p:nvSpPr>
          <p:cNvPr id="8" name="Textfeld 7">
            <a:extLst xmlns:a="http://schemas.openxmlformats.org/drawingml/2006/main">
              <a:ext uri="{FF2B5EF4-FFF2-40B4-BE49-F238E27FC236}">
                <a16:creationId xmlns:a16="http://schemas.microsoft.com/office/drawing/2014/main" id="{ADC8BCC9-632D-3F74-1976-FD5CD90B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997200"/>
            <a:ext cx="4191000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• Konzeption und Hypothesen
• Große Teile von Code und UI
• Fehleranalyse und Iterationen
• Ausarbeitung und Transparenzbericht
• Folien und Live-Quiz</a:t>
            </a:r>
          </a:p>
        </p:txBody>
      </p:sp>
      <p:cxnSp>
        <p:nvCxnSpPr>
          <p:cNvPr id="28" name="Gerade Verbindung mit Pfeil 8"/>
          <p:cNvCxnSpPr/>
          <p:nvPr/>
        </p:nvCxnSpPr>
        <p:spPr>
          <a:xfrm xmlns:a="http://schemas.openxmlformats.org/drawingml/2006/main">
            <a:off x="6273800" y="2336800"/>
            <a:ext cx="0" cy="30226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94A3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00D524B9-690C-3CB1-80E2-934804DA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2336800"/>
            <a:ext cx="3937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Grenzen + Verantwortung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8C1744CC-B303-DFC9-05C7-38EFA497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2997200"/>
            <a:ext cx="3937000" cy="1461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Ich gab Ziele vor, wählte Varianten und prüfte Ergebnisse. KI-Ausgaben können plausibel falsch sein: Fakten, Quellen, Messlogik, Code und Schlussfolgerungen verantworte ich.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5CB1DB35-55A6-5990-AFBD-2831F4F3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89600"/>
            <a:ext cx="825500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Genutzt wurden ausschließlich Claude- und ChatGPT-Chatfunktionen; echte Ergebnisse und Bewertungen werden nicht simuliert.</a:t>
            </a:r>
          </a:p>
        </p:txBody>
      </p:sp>
    </p:spTree>
    <p:extLst>
      <p:ext uri="{BB962C8B-B14F-4D97-AF65-F5344CB8AC3E}">
        <p14:creationId xmlns:p14="http://schemas.microsoft.com/office/powerpoint/2010/main" val="401577152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2026-07-10T12:27:52.5750000Z</dcterms:created>
  <dcterms:modified xsi:type="dcterms:W3CDTF">2026-07-10T12:27:52.5750000Z</dcterms:modified>
</coreProperties>
</file>