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E63CD-FE0A-03ED-8D8E-492F5B40E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68BC14-F5B8-7F03-E4E6-A9817DCB5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EAACB1-0C9C-3840-7339-EBE66C8F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4D6FFB-1C53-41DB-98B6-799D1ABA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3AF619-DCF0-D54F-4D64-A7B8092A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860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27FE6-5DF1-E1EB-55D2-6E0D539C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EE66C7-9562-15AB-90AA-4B155BD9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4E6A97-8A6A-AD4D-4E0A-16B99F97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4BE9D5-56AC-4065-0BD3-11DC2DDA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BFE40E-9289-739B-ADB8-4A4895B2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18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66AA3-9376-C061-C77D-5F6017D4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9BBF6A-2E7D-0E8D-2C73-88F99A4B4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BAF4B3-4566-8C96-67FD-9EE5F12C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F8D9E9-1A68-16EF-76FE-C7A8CAB1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6E62FA-CB48-DCF6-DFA3-434124E8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922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4A649-323C-DB3A-39B4-0867FCF7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A0D3D3-D406-9BCD-2743-86FAA4D7D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F5ED24-2513-1F2E-9836-B7A00B3D5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0B7696-DDD3-7C10-4EA3-77BDB67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CB2FFC-093F-68E1-371D-DBC24926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F6E7E4-FA02-9150-8829-A4C58E39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239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8E0E9-3C00-9D1E-D70A-D62CDEA5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54BF92-AFC4-20AC-0381-597433EC7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0AAA0C-7733-DDC6-D01A-BF3E864CC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0414E38-4602-43B5-F60D-DA06CA1EF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F846009-07B0-2938-78DA-E5C3BB7CB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E75E212-FA14-2F9C-85C9-C4D7881C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6B24A8-6B9A-795A-7F59-52B6B6F7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D1D9B50-B3CB-0524-1B7A-FBA99AD1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1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463F3A-9FAE-7458-83EF-DBDB6BE8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58A816-602E-6A1A-72D7-424F730D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F57246-0C87-01A8-74E9-BE7E64C3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66D416-8E22-89E9-726D-7D3B6A11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5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59EE72B-4272-D1FB-8751-BAC8A668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6261FB-FCF6-0A27-D032-8AA36F50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DE2EF6-7C62-645F-24E6-5DE61D98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5699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BE1B9-3286-B30C-F2EF-57F17182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832D30-6828-C834-DC81-5C67153D1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1B054F-B1E2-8570-A30E-F9CA80DC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1B9173-7962-13BB-2E19-7826D6464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BAEC79-89A0-5171-38DA-D448662A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4C2532-462B-7E69-F441-6C55709A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884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B6B41-8463-5199-3282-DF5287B5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7D83EF-C1FC-6427-E390-37410A142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21C367-EE81-6C1D-4B94-2D038133A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E1704E-3E3E-544D-630F-39A5A7EF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FB07CF-1C2A-9B79-6C2A-98C8FBFB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B04072-4862-FA3E-FD80-6D0A34EC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75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593C6-89A3-BE21-A560-389E4932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0F6240-47CC-235E-F22F-33F4AEDCA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1AC89-94E4-3EED-EAE3-86924DBA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D57627-DE8E-9F3B-F772-5882C3DFC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92D8A0-06D8-FAE5-1857-FFE827EFD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260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187E2F-6514-8493-3BF8-0B085D5A8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538237-40F8-DCB4-80BD-9558550F2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AAB35C-7FAE-73FF-127E-8B0E9922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00D320-12A1-6700-0ACB-04AFE5E1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5AB13B-C416-6430-B9F4-6D988768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732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B9BBBB-2F78-6FA6-7E49-48D4979B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8D7835-87DB-BF85-054E-5DAB1C2F1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448AED-0D24-3287-E607-BCDE3B67F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2E604-6317-4F7C-BFED-E734C16B648C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6B0D06-49EE-5AF2-95FD-16D9F72D0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0B3DB0-0B27-D191-3B88-885469E54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B7AFC-F5B8-4FFD-AA68-12550CFE28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6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CB0A215-0174-22EB-2577-349550C3D187}"/>
              </a:ext>
            </a:extLst>
          </p:cNvPr>
          <p:cNvSpPr/>
          <p:nvPr/>
        </p:nvSpPr>
        <p:spPr>
          <a:xfrm>
            <a:off x="736600" y="533400"/>
            <a:ext cx="27686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3E8801B-7290-3A1C-D0C4-5BE848531EB4}"/>
              </a:ext>
            </a:extLst>
          </p:cNvPr>
          <p:cNvSpPr txBox="1"/>
          <p:nvPr/>
        </p:nvSpPr>
        <p:spPr>
          <a:xfrm>
            <a:off x="736600" y="596900"/>
            <a:ext cx="2768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PROSEMINAR · SOSE 2026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C142B3-9828-B482-27CE-88AD4C39B44D}"/>
              </a:ext>
            </a:extLst>
          </p:cNvPr>
          <p:cNvSpPr txBox="1"/>
          <p:nvPr/>
        </p:nvSpPr>
        <p:spPr>
          <a:xfrm>
            <a:off x="736600" y="1422400"/>
            <a:ext cx="7937500" cy="14798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4600" b="1">
                <a:solidFill>
                  <a:srgbClr val="F8FAFC"/>
                </a:solidFill>
                <a:latin typeface="Century Schoolbook" panose="02040604050505020304" pitchFamily="18" charset="0"/>
              </a:rPr>
              <a:t>Graph-RAG auf dem
Smartphone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39C1950-C594-8D1D-C05A-38B0264D3178}"/>
              </a:ext>
            </a:extLst>
          </p:cNvPr>
          <p:cNvSpPr txBox="1"/>
          <p:nvPr/>
        </p:nvSpPr>
        <p:spPr>
          <a:xfrm>
            <a:off x="762000" y="3149600"/>
            <a:ext cx="7493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2100">
                <a:solidFill>
                  <a:srgbClr val="CBD5E1"/>
                </a:solidFill>
                <a:latin typeface="Calibri" panose="020F0502020204030204" pitchFamily="34" charset="0"/>
              </a:rPr>
              <a:t>Kann ein kuratierter Wissensgraph kleinen lokalen Sprachmodellen bei Multi-Hop-Fragen helfen?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2867294-61B4-4368-031D-A6440B9D2110}"/>
              </a:ext>
            </a:extLst>
          </p:cNvPr>
          <p:cNvSpPr txBox="1"/>
          <p:nvPr/>
        </p:nvSpPr>
        <p:spPr>
          <a:xfrm>
            <a:off x="762000" y="5715000"/>
            <a:ext cx="7493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350">
                <a:solidFill>
                  <a:srgbClr val="94A3B8"/>
                </a:solidFill>
                <a:latin typeface="Calibri" panose="020F0502020204030204" pitchFamily="34" charset="0"/>
              </a:rPr>
              <a:t>Sinan Yavuz Adigüzel · TU Dortmund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1C2304D-BE0E-1FC8-25B8-B9D2D00273EE}"/>
              </a:ext>
            </a:extLst>
          </p:cNvPr>
          <p:cNvSpPr/>
          <p:nvPr/>
        </p:nvSpPr>
        <p:spPr>
          <a:xfrm>
            <a:off x="8890000" y="1320800"/>
            <a:ext cx="2616200" cy="36068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C3172BF-BBC6-CC90-7849-B78EE8589705}"/>
              </a:ext>
            </a:extLst>
          </p:cNvPr>
          <p:cNvSpPr txBox="1"/>
          <p:nvPr/>
        </p:nvSpPr>
        <p:spPr>
          <a:xfrm>
            <a:off x="9220200" y="16002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050" b="1">
                <a:solidFill>
                  <a:srgbClr val="5EEAD4"/>
                </a:solidFill>
                <a:latin typeface="Calibri" panose="020F0502020204030204" pitchFamily="34" charset="0"/>
              </a:rPr>
              <a:t>LOKALER WISSENSGRAPH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906F809-B141-2267-A55D-694369B8972A}"/>
              </a:ext>
            </a:extLst>
          </p:cNvPr>
          <p:cNvCxnSpPr/>
          <p:nvPr/>
        </p:nvCxnSpPr>
        <p:spPr>
          <a:xfrm flipV="1">
            <a:off x="9652000" y="2057400"/>
            <a:ext cx="635000" cy="508000"/>
          </a:xfrm>
          <a:prstGeom prst="straightConnector1">
            <a:avLst/>
          </a:prstGeom>
          <a:ln w="28575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786DC73-F529-D557-ECF2-627E25E62A76}"/>
              </a:ext>
            </a:extLst>
          </p:cNvPr>
          <p:cNvCxnSpPr/>
          <p:nvPr/>
        </p:nvCxnSpPr>
        <p:spPr>
          <a:xfrm>
            <a:off x="9652000" y="2565400"/>
            <a:ext cx="635000" cy="584200"/>
          </a:xfrm>
          <a:prstGeom prst="straightConnector1">
            <a:avLst/>
          </a:prstGeom>
          <a:ln w="28575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BDC1A6E-7020-9EC8-98DC-2EF113368C99}"/>
              </a:ext>
            </a:extLst>
          </p:cNvPr>
          <p:cNvCxnSpPr/>
          <p:nvPr/>
        </p:nvCxnSpPr>
        <p:spPr>
          <a:xfrm flipH="1">
            <a:off x="9474200" y="2565400"/>
            <a:ext cx="177800" cy="1219200"/>
          </a:xfrm>
          <a:prstGeom prst="straightConnector1">
            <a:avLst/>
          </a:prstGeom>
          <a:ln w="28575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FFB4A8D-F77D-2B46-9681-085F8E8437B0}"/>
              </a:ext>
            </a:extLst>
          </p:cNvPr>
          <p:cNvCxnSpPr/>
          <p:nvPr/>
        </p:nvCxnSpPr>
        <p:spPr>
          <a:xfrm>
            <a:off x="10287000" y="2057400"/>
            <a:ext cx="609600" cy="660400"/>
          </a:xfrm>
          <a:prstGeom prst="straightConnector1">
            <a:avLst/>
          </a:prstGeom>
          <a:ln w="28575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>
            <a:extLst>
              <a:ext uri="{FF2B5EF4-FFF2-40B4-BE49-F238E27FC236}">
                <a16:creationId xmlns:a16="http://schemas.microsoft.com/office/drawing/2014/main" id="{83A7C6A6-A6BF-AA74-40F9-58426E331ADE}"/>
              </a:ext>
            </a:extLst>
          </p:cNvPr>
          <p:cNvSpPr/>
          <p:nvPr/>
        </p:nvSpPr>
        <p:spPr>
          <a:xfrm>
            <a:off x="9372600" y="2298700"/>
            <a:ext cx="558800" cy="558800"/>
          </a:xfrm>
          <a:prstGeom prst="ellipse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EFA83D-7591-4811-2B96-45E35D916C6B}"/>
              </a:ext>
            </a:extLst>
          </p:cNvPr>
          <p:cNvSpPr txBox="1"/>
          <p:nvPr/>
        </p:nvSpPr>
        <p:spPr>
          <a:xfrm>
            <a:off x="9372600" y="2463800"/>
            <a:ext cx="558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050" b="1">
                <a:solidFill>
                  <a:srgbClr val="0F293B"/>
                </a:solidFill>
                <a:latin typeface="Calibri" panose="020F0502020204030204" pitchFamily="34" charset="0"/>
              </a:rPr>
              <a:t>LLM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13ADFE0-D374-92AB-4884-8BA08A809B08}"/>
              </a:ext>
            </a:extLst>
          </p:cNvPr>
          <p:cNvSpPr/>
          <p:nvPr/>
        </p:nvSpPr>
        <p:spPr>
          <a:xfrm>
            <a:off x="10033000" y="1778000"/>
            <a:ext cx="558800" cy="558800"/>
          </a:xfrm>
          <a:prstGeom prst="ellipse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6824A27-AD39-B7E7-7182-D716BDAE15B7}"/>
              </a:ext>
            </a:extLst>
          </p:cNvPr>
          <p:cNvSpPr txBox="1"/>
          <p:nvPr/>
        </p:nvSpPr>
        <p:spPr>
          <a:xfrm>
            <a:off x="10033000" y="1943100"/>
            <a:ext cx="558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050" b="1">
                <a:solidFill>
                  <a:srgbClr val="F8FAFC"/>
                </a:solidFill>
                <a:latin typeface="Calibri" panose="020F0502020204030204" pitchFamily="34" charset="0"/>
              </a:rPr>
              <a:t>Kant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564D750-5A71-43FB-7807-1242E48ABFA9}"/>
              </a:ext>
            </a:extLst>
          </p:cNvPr>
          <p:cNvSpPr/>
          <p:nvPr/>
        </p:nvSpPr>
        <p:spPr>
          <a:xfrm>
            <a:off x="10033000" y="2921000"/>
            <a:ext cx="558800" cy="558800"/>
          </a:xfrm>
          <a:prstGeom prst="ellipse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A46B183-2B92-749B-3CD3-B458AD4B3211}"/>
              </a:ext>
            </a:extLst>
          </p:cNvPr>
          <p:cNvSpPr txBox="1"/>
          <p:nvPr/>
        </p:nvSpPr>
        <p:spPr>
          <a:xfrm>
            <a:off x="10033000" y="3086100"/>
            <a:ext cx="558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050" b="1">
                <a:solidFill>
                  <a:srgbClr val="0F293B"/>
                </a:solidFill>
                <a:latin typeface="Calibri" panose="020F0502020204030204" pitchFamily="34" charset="0"/>
              </a:rPr>
              <a:t>Hegel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28693FD-D722-1912-A861-317FC19C6C42}"/>
              </a:ext>
            </a:extLst>
          </p:cNvPr>
          <p:cNvSpPr/>
          <p:nvPr/>
        </p:nvSpPr>
        <p:spPr>
          <a:xfrm>
            <a:off x="9194800" y="3708400"/>
            <a:ext cx="558800" cy="558800"/>
          </a:xfrm>
          <a:prstGeom prst="ellipse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90BD0E3-5FB0-D7C4-2FFB-62B8951FF0A2}"/>
              </a:ext>
            </a:extLst>
          </p:cNvPr>
          <p:cNvSpPr txBox="1"/>
          <p:nvPr/>
        </p:nvSpPr>
        <p:spPr>
          <a:xfrm>
            <a:off x="9194800" y="3873500"/>
            <a:ext cx="558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050" b="1">
                <a:solidFill>
                  <a:srgbClr val="F8FAFC"/>
                </a:solidFill>
                <a:latin typeface="Calibri" panose="020F0502020204030204" pitchFamily="34" charset="0"/>
              </a:rPr>
              <a:t>Werk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3492C88-1740-BAFF-A397-D61E47C0BED0}"/>
              </a:ext>
            </a:extLst>
          </p:cNvPr>
          <p:cNvSpPr/>
          <p:nvPr/>
        </p:nvSpPr>
        <p:spPr>
          <a:xfrm>
            <a:off x="10693400" y="2514600"/>
            <a:ext cx="558800" cy="558800"/>
          </a:xfrm>
          <a:prstGeom prst="ellipse">
            <a:avLst/>
          </a:prstGeom>
          <a:solidFill>
            <a:srgbClr val="4AD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2986763-3EA3-9E33-8F4A-545FE78C2C5C}"/>
              </a:ext>
            </a:extLst>
          </p:cNvPr>
          <p:cNvSpPr txBox="1"/>
          <p:nvPr/>
        </p:nvSpPr>
        <p:spPr>
          <a:xfrm>
            <a:off x="10693400" y="2679700"/>
            <a:ext cx="558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050" b="1">
                <a:solidFill>
                  <a:srgbClr val="0F293B"/>
                </a:solidFill>
                <a:latin typeface="Calibri" panose="020F0502020204030204" pitchFamily="34" charset="0"/>
              </a:rPr>
              <a:t>Ort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49D9A33-1C4A-3F45-CBD5-0F948D9C5610}"/>
              </a:ext>
            </a:extLst>
          </p:cNvPr>
          <p:cNvSpPr txBox="1"/>
          <p:nvPr/>
        </p:nvSpPr>
        <p:spPr>
          <a:xfrm>
            <a:off x="9194800" y="4419600"/>
            <a:ext cx="2006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>
                <a:solidFill>
                  <a:srgbClr val="CBD5E1"/>
                </a:solidFill>
                <a:latin typeface="Calibri" panose="020F0502020204030204" pitchFamily="34" charset="0"/>
              </a:rPr>
              <a:t>privat · offline · messbar</a:t>
            </a:r>
          </a:p>
        </p:txBody>
      </p:sp>
    </p:spTree>
    <p:extLst>
      <p:ext uri="{BB962C8B-B14F-4D97-AF65-F5344CB8AC3E}">
        <p14:creationId xmlns:p14="http://schemas.microsoft.com/office/powerpoint/2010/main" val="278627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5423E11-2A96-02E7-F5DF-21CB97C5879F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AUSGANGSPUNKT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9F02D9A-E3FE-C2EA-F2BE-C4D1F28DE21D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Wie ich von der Idee zum Experiment kam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45A89C1-D948-BCE6-33FA-81B72882ECE5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51912A-FB90-14D1-3B35-F49BF6AE8A2D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9B40B40-AC14-6102-6AFF-83747F677225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418CB59-DC90-C2E8-63F8-E64895EEA670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5DFEDE7-1FCB-D173-48A0-67F38A11FF91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DDE8407-D0CC-2649-F236-7629EAD1D2BE}"/>
              </a:ext>
            </a:extLst>
          </p:cNvPr>
          <p:cNvSpPr/>
          <p:nvPr/>
        </p:nvSpPr>
        <p:spPr>
          <a:xfrm>
            <a:off x="685800" y="1752600"/>
            <a:ext cx="3200400" cy="3810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0B84F1C-43D1-D01D-1917-85FA5DF56958}"/>
              </a:ext>
            </a:extLst>
          </p:cNvPr>
          <p:cNvSpPr/>
          <p:nvPr/>
        </p:nvSpPr>
        <p:spPr>
          <a:xfrm>
            <a:off x="685800" y="1752600"/>
            <a:ext cx="76200" cy="38100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46367CA-A586-437D-D179-47ED95FA1328}"/>
              </a:ext>
            </a:extLst>
          </p:cNvPr>
          <p:cNvSpPr txBox="1"/>
          <p:nvPr/>
        </p:nvSpPr>
        <p:spPr>
          <a:xfrm>
            <a:off x="939800" y="19558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1 · Meine Ausgangsfrage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A76EC89-F699-CD7B-CC67-34E046C0DDCD}"/>
              </a:ext>
            </a:extLst>
          </p:cNvPr>
          <p:cNvSpPr txBox="1"/>
          <p:nvPr/>
        </p:nvSpPr>
        <p:spPr>
          <a:xfrm>
            <a:off x="939800" y="2425700"/>
            <a:ext cx="27686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Wie kann ein kleines Sprachmodell auf meinem Smartphone verlässlicher mit lokalem Wissen arbeiten?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1B7B0C5-64A3-5DC1-5209-28A65E908FF6}"/>
              </a:ext>
            </a:extLst>
          </p:cNvPr>
          <p:cNvSpPr/>
          <p:nvPr/>
        </p:nvSpPr>
        <p:spPr>
          <a:xfrm>
            <a:off x="4495800" y="1752600"/>
            <a:ext cx="3200400" cy="3810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8B872FE-1B6F-B36A-E07D-B4A13FD4060D}"/>
              </a:ext>
            </a:extLst>
          </p:cNvPr>
          <p:cNvSpPr/>
          <p:nvPr/>
        </p:nvSpPr>
        <p:spPr>
          <a:xfrm>
            <a:off x="4495800" y="1752600"/>
            <a:ext cx="76200" cy="38100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8CC757F-A55B-FC4A-EA46-59B59601DC3D}"/>
              </a:ext>
            </a:extLst>
          </p:cNvPr>
          <p:cNvSpPr txBox="1"/>
          <p:nvPr/>
        </p:nvSpPr>
        <p:spPr>
          <a:xfrm>
            <a:off x="4749800" y="19558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2 · Iterativer Aufbau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8516F4A-84C0-7E6C-9974-BF00F4B62219}"/>
              </a:ext>
            </a:extLst>
          </p:cNvPr>
          <p:cNvSpPr txBox="1"/>
          <p:nvPr/>
        </p:nvSpPr>
        <p:spPr>
          <a:xfrm>
            <a:off x="4749800" y="2425700"/>
            <a:ext cx="27686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Ich habe Anforderungen formuliert, Varianten verglichen und das Projekt Schritt für Schritt mit Claude und ChatGPT im Chat weiterentwickelt.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E27E50EC-A7B2-63C8-C5F6-7E71EA0C0A8B}"/>
              </a:ext>
            </a:extLst>
          </p:cNvPr>
          <p:cNvSpPr/>
          <p:nvPr/>
        </p:nvSpPr>
        <p:spPr>
          <a:xfrm>
            <a:off x="8305800" y="1752600"/>
            <a:ext cx="3200400" cy="3810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9BF6DAE-57A7-30DD-663F-2953FE97F3D3}"/>
              </a:ext>
            </a:extLst>
          </p:cNvPr>
          <p:cNvSpPr/>
          <p:nvPr/>
        </p:nvSpPr>
        <p:spPr>
          <a:xfrm>
            <a:off x="8305800" y="1752600"/>
            <a:ext cx="76200" cy="38100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4846EC5-D085-EC69-0F7B-F02602B251B2}"/>
              </a:ext>
            </a:extLst>
          </p:cNvPr>
          <p:cNvSpPr txBox="1"/>
          <p:nvPr/>
        </p:nvSpPr>
        <p:spPr>
          <a:xfrm>
            <a:off x="8559800" y="19558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3 · Meine Kontrolle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FF94D72-6903-81C6-0849-828DDC8CE3D0}"/>
              </a:ext>
            </a:extLst>
          </p:cNvPr>
          <p:cNvSpPr txBox="1"/>
          <p:nvPr/>
        </p:nvSpPr>
        <p:spPr>
          <a:xfrm>
            <a:off x="8559800" y="2425700"/>
            <a:ext cx="27686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Ich habe Entscheidungen getroffen, den Code getestet, Inhalte geprüft und übernehme die Verantwortung für Methode und Ergebnis.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C998DB9-2DCE-D290-4AB7-BE97962C0370}"/>
              </a:ext>
            </a:extLst>
          </p:cNvPr>
          <p:cNvCxnSpPr/>
          <p:nvPr/>
        </p:nvCxnSpPr>
        <p:spPr>
          <a:xfrm>
            <a:off x="3898900" y="3657600"/>
            <a:ext cx="546100" cy="0"/>
          </a:xfrm>
          <a:prstGeom prst="straightConnector1">
            <a:avLst/>
          </a:prstGeom>
          <a:ln w="28575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34C10B1-A1C1-48AC-D7CC-9051F2197201}"/>
              </a:ext>
            </a:extLst>
          </p:cNvPr>
          <p:cNvCxnSpPr/>
          <p:nvPr/>
        </p:nvCxnSpPr>
        <p:spPr>
          <a:xfrm>
            <a:off x="7708900" y="3657600"/>
            <a:ext cx="546100" cy="0"/>
          </a:xfrm>
          <a:prstGeom prst="straightConnector1">
            <a:avLst/>
          </a:prstGeom>
          <a:ln w="28575">
            <a:solidFill>
              <a:srgbClr val="5EEAD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1C880CD-167A-5FD5-C5FC-F1D06F39450A}"/>
              </a:ext>
            </a:extLst>
          </p:cNvPr>
          <p:cNvSpPr txBox="1"/>
          <p:nvPr/>
        </p:nvSpPr>
        <p:spPr>
          <a:xfrm>
            <a:off x="685800" y="58420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550" b="1">
                <a:solidFill>
                  <a:srgbClr val="CBD5E1"/>
                </a:solidFill>
                <a:latin typeface="Calibri" panose="020F0502020204030204" pitchFamily="34" charset="0"/>
              </a:rPr>
              <a:t>Idee → Dialogische Entwürfe → eigene Auswahl und Prüfung → Artefakt → Experiment</a:t>
            </a:r>
          </a:p>
        </p:txBody>
      </p:sp>
    </p:spTree>
    <p:extLst>
      <p:ext uri="{BB962C8B-B14F-4D97-AF65-F5344CB8AC3E}">
        <p14:creationId xmlns:p14="http://schemas.microsoft.com/office/powerpoint/2010/main" val="191925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2DF048A-F273-4845-881B-212D03C30B19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MOTIVATION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56698F8-8505-5ADF-EB21-665F8333585E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Lokal ist privat – aber Wissen bleibt knapp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147890B-4289-617B-7033-43EFCEFB546D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6B3E48-E25A-8382-6F0B-5B624FF37A29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03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99E5255-D124-4BD9-EC24-46C847D9F6E0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550C3E4-146B-30A8-D424-A5E9188ECF74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91FC60A-9514-4CCC-DDB8-AE26F9665A97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3A97D2B-BFCE-8F3F-9E59-E73A573C886E}"/>
              </a:ext>
            </a:extLst>
          </p:cNvPr>
          <p:cNvSpPr/>
          <p:nvPr/>
        </p:nvSpPr>
        <p:spPr>
          <a:xfrm>
            <a:off x="685800" y="1778000"/>
            <a:ext cx="5003800" cy="3429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2C457EF-6627-3D20-7EE0-AFCBFCE3B101}"/>
              </a:ext>
            </a:extLst>
          </p:cNvPr>
          <p:cNvSpPr/>
          <p:nvPr/>
        </p:nvSpPr>
        <p:spPr>
          <a:xfrm>
            <a:off x="685800" y="1778000"/>
            <a:ext cx="76200" cy="34290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4C922B-AC5E-AA8E-5F4E-B4ED1238FD1A}"/>
              </a:ext>
            </a:extLst>
          </p:cNvPr>
          <p:cNvSpPr txBox="1"/>
          <p:nvPr/>
        </p:nvSpPr>
        <p:spPr>
          <a:xfrm>
            <a:off x="939800" y="198120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On-Device-LLMs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A56208-BBD2-FA59-2F02-72BF014FF8B4}"/>
              </a:ext>
            </a:extLst>
          </p:cNvPr>
          <p:cNvSpPr txBox="1"/>
          <p:nvPr/>
        </p:nvSpPr>
        <p:spPr>
          <a:xfrm>
            <a:off x="939800" y="2451100"/>
            <a:ext cx="4572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• lokale Inferenz ohne eigenes Backend
• nach dem Modelldownload offline nutzbar
• private Daten bleiben auf dem Gerät
• kleine Modelle passen auf mobile Hardware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21C9A20-C556-400D-667C-98511078976A}"/>
              </a:ext>
            </a:extLst>
          </p:cNvPr>
          <p:cNvSpPr/>
          <p:nvPr/>
        </p:nvSpPr>
        <p:spPr>
          <a:xfrm>
            <a:off x="6502400" y="1778000"/>
            <a:ext cx="5003800" cy="3429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652B007-C99C-1085-1620-D7A16F28C368}"/>
              </a:ext>
            </a:extLst>
          </p:cNvPr>
          <p:cNvSpPr/>
          <p:nvPr/>
        </p:nvSpPr>
        <p:spPr>
          <a:xfrm>
            <a:off x="6502400" y="1778000"/>
            <a:ext cx="76200" cy="3429000"/>
          </a:xfrm>
          <a:prstGeom prst="rect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7D363D1-B813-9877-0BE7-9DB73E4FAD3D}"/>
              </a:ext>
            </a:extLst>
          </p:cNvPr>
          <p:cNvSpPr txBox="1"/>
          <p:nvPr/>
        </p:nvSpPr>
        <p:spPr>
          <a:xfrm>
            <a:off x="6756400" y="1981200"/>
            <a:ext cx="457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Das Wissensproblem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0C5C440-A653-2203-4A62-69CA15E0CBAF}"/>
              </a:ext>
            </a:extLst>
          </p:cNvPr>
          <p:cNvSpPr txBox="1"/>
          <p:nvPr/>
        </p:nvSpPr>
        <p:spPr>
          <a:xfrm>
            <a:off x="6756400" y="2451100"/>
            <a:ext cx="45720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• lückenhaftes parametrisches Faktenwissen
• plausible, aber falsche Antworten
• begrenztes Kontext- und Speicherbudget
• Multi-Hop-Fragen verlangen mehrere Fakten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DCCC9590-C24E-1E32-E400-923305D88808}"/>
              </a:ext>
            </a:extLst>
          </p:cNvPr>
          <p:cNvSpPr/>
          <p:nvPr/>
        </p:nvSpPr>
        <p:spPr>
          <a:xfrm>
            <a:off x="3594100" y="5588000"/>
            <a:ext cx="50038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4074FF5-6A1C-A191-1014-A6E01720EC34}"/>
              </a:ext>
            </a:extLst>
          </p:cNvPr>
          <p:cNvSpPr txBox="1"/>
          <p:nvPr/>
        </p:nvSpPr>
        <p:spPr>
          <a:xfrm>
            <a:off x="3594100" y="5651500"/>
            <a:ext cx="5003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F8FAFC"/>
                </a:solidFill>
                <a:latin typeface="Calibri" panose="020F0502020204030204" pitchFamily="34" charset="0"/>
              </a:rPr>
              <a:t>RAG lädt relevantes Wissen zur Laufzeit nach.</a:t>
            </a:r>
          </a:p>
        </p:txBody>
      </p:sp>
    </p:spTree>
    <p:extLst>
      <p:ext uri="{BB962C8B-B14F-4D97-AF65-F5344CB8AC3E}">
        <p14:creationId xmlns:p14="http://schemas.microsoft.com/office/powerpoint/2010/main" val="313735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A584298-C6E4-92EE-7CC5-1226AAEE0410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UNABHÄNGIGE VARIABLE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9C935E5-8AA0-0BCB-AA86-53F07FA744AF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Zwei Retrieval-Pipelines im Vergleich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7490149-DA2B-7D60-B9F0-D412E0D434A5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2587FF2-1F4F-2BEF-BFB8-3D40FEF9E828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04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B6BDC78-C1F7-5FD4-BCAF-5553AB7F8B6C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F2D0189-8C08-C47B-1545-0B04BA936652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8B568F-ED4F-2923-0669-9A5DED74C8CA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C32049E-EC00-AF24-197C-22FD2124A8A1}"/>
              </a:ext>
            </a:extLst>
          </p:cNvPr>
          <p:cNvSpPr/>
          <p:nvPr/>
        </p:nvSpPr>
        <p:spPr>
          <a:xfrm>
            <a:off x="685800" y="1752600"/>
            <a:ext cx="4851400" cy="3683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D6FE492-7499-0895-0BD6-17C16689CA08}"/>
              </a:ext>
            </a:extLst>
          </p:cNvPr>
          <p:cNvSpPr/>
          <p:nvPr/>
        </p:nvSpPr>
        <p:spPr>
          <a:xfrm>
            <a:off x="685800" y="1752600"/>
            <a:ext cx="76200" cy="36830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815C445-DAAD-58D1-F36C-E9E2AFE39603}"/>
              </a:ext>
            </a:extLst>
          </p:cNvPr>
          <p:cNvSpPr txBox="1"/>
          <p:nvPr/>
        </p:nvSpPr>
        <p:spPr>
          <a:xfrm>
            <a:off x="939800" y="1955800"/>
            <a:ext cx="4419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Vektor-RAG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B531582-F9C1-0483-5CFA-0B3FA481F7A9}"/>
              </a:ext>
            </a:extLst>
          </p:cNvPr>
          <p:cNvSpPr txBox="1"/>
          <p:nvPr/>
        </p:nvSpPr>
        <p:spPr>
          <a:xfrm>
            <a:off x="939800" y="2425700"/>
            <a:ext cx="4419600" cy="13208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Semantische Ähnlichkeitssuche über isolierte Kurztexte.
Faire Baseline: mehrsprachige dichte Embeddings, Top-k = 4.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3CFA5E6C-DFFD-F106-9427-9A566DD150F6}"/>
              </a:ext>
            </a:extLst>
          </p:cNvPr>
          <p:cNvSpPr/>
          <p:nvPr/>
        </p:nvSpPr>
        <p:spPr>
          <a:xfrm>
            <a:off x="6654800" y="1752600"/>
            <a:ext cx="4851400" cy="3683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4A0C753-C800-F3E1-33AD-9C5070B5E369}"/>
              </a:ext>
            </a:extLst>
          </p:cNvPr>
          <p:cNvSpPr/>
          <p:nvPr/>
        </p:nvSpPr>
        <p:spPr>
          <a:xfrm>
            <a:off x="6654800" y="1752600"/>
            <a:ext cx="76200" cy="36830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38948CB-DE13-2B03-70F0-EE9A435D70BB}"/>
              </a:ext>
            </a:extLst>
          </p:cNvPr>
          <p:cNvSpPr txBox="1"/>
          <p:nvPr/>
        </p:nvSpPr>
        <p:spPr>
          <a:xfrm>
            <a:off x="6908800" y="1955800"/>
            <a:ext cx="4419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Graph-RAG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3AB1B3A-C11C-7B6A-1EA6-A25D23C11D28}"/>
              </a:ext>
            </a:extLst>
          </p:cNvPr>
          <p:cNvSpPr txBox="1"/>
          <p:nvPr/>
        </p:nvSpPr>
        <p:spPr>
          <a:xfrm>
            <a:off x="6908800" y="2425700"/>
            <a:ext cx="4419600" cy="13208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Traversal über einen kuratierten, typisierten Wissensgraphen.
Kontext: relevante Beziehungstripel plus dieselben Kurztexte.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87D9837-AA6D-66F4-7792-82FA1622E6F3}"/>
              </a:ext>
            </a:extLst>
          </p:cNvPr>
          <p:cNvSpPr txBox="1"/>
          <p:nvPr/>
        </p:nvSpPr>
        <p:spPr>
          <a:xfrm>
            <a:off x="863600" y="5638800"/>
            <a:ext cx="104648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450" b="1">
                <a:solidFill>
                  <a:srgbClr val="FBBF24"/>
                </a:solidFill>
                <a:latin typeface="Calibri" panose="020F0502020204030204" pitchFamily="34" charset="0"/>
              </a:rPr>
              <a:t>Wichtig: Der Messgraph wurde manuell kuratiert und eingefroren. Ich teste keine automatische Graphgewinnung aus rohen Wikipedia-Links.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F046466-7126-81F4-09C4-235AC2F5A9BF}"/>
              </a:ext>
            </a:extLst>
          </p:cNvPr>
          <p:cNvCxnSpPr/>
          <p:nvPr/>
        </p:nvCxnSpPr>
        <p:spPr>
          <a:xfrm>
            <a:off x="5562600" y="3556000"/>
            <a:ext cx="1041400" cy="0"/>
          </a:xfrm>
          <a:prstGeom prst="straightConnector1">
            <a:avLst/>
          </a:prstGeom>
          <a:ln w="28575">
            <a:solidFill>
              <a:srgbClr val="94A3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5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9BD26D1-C97F-1B9A-B423-331A35545A51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FORSCHUNGSFRAGE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959A737-9540-CFE4-9791-5973F325F1D1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Wann hilft explizite Struktur?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7FBB24-7790-5C88-EEB6-AFCDFA970CA3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FF2F4C-505F-547B-87CF-FACE1EB3B547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082A04F-C8CA-98A3-D9DA-FCCC4399EE7F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A0AB3C4-D2B7-30CD-CB20-DAADCDDC4A7B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C7B9E8-FAD8-891E-085B-B68BD2BCD171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05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F898C3C-C26A-8212-C9C9-0AC583FFF0B4}"/>
              </a:ext>
            </a:extLst>
          </p:cNvPr>
          <p:cNvSpPr/>
          <p:nvPr/>
        </p:nvSpPr>
        <p:spPr>
          <a:xfrm>
            <a:off x="685800" y="1727200"/>
            <a:ext cx="10820400" cy="1524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24461B-8EC0-293F-4585-B9CBEBF68A8E}"/>
              </a:ext>
            </a:extLst>
          </p:cNvPr>
          <p:cNvSpPr txBox="1"/>
          <p:nvPr/>
        </p:nvSpPr>
        <p:spPr>
          <a:xfrm>
            <a:off x="1041400" y="2044700"/>
            <a:ext cx="10109200" cy="8771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Verbessert Retrieval über einen kuratierten, typisierten Wissensgraphen die Antwortqualität kleiner On-Device-LLMs gegenüber Vektor-RAG und einer kontextfreien Baseline – besonders bei Multi-Hop-Fragen und zu welchen Ressourcenkosten?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50B3A37-9C1B-207A-3DF3-BDD03D0CD09F}"/>
              </a:ext>
            </a:extLst>
          </p:cNvPr>
          <p:cNvSpPr/>
          <p:nvPr/>
        </p:nvSpPr>
        <p:spPr>
          <a:xfrm>
            <a:off x="685800" y="3632200"/>
            <a:ext cx="3200400" cy="1905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26B96E6-80D1-0DAA-F6A5-BBFCCF172DD3}"/>
              </a:ext>
            </a:extLst>
          </p:cNvPr>
          <p:cNvSpPr/>
          <p:nvPr/>
        </p:nvSpPr>
        <p:spPr>
          <a:xfrm>
            <a:off x="685800" y="3632200"/>
            <a:ext cx="76200" cy="19050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1D72E5-AD10-D2E2-8796-8C78C8297634}"/>
              </a:ext>
            </a:extLst>
          </p:cNvPr>
          <p:cNvSpPr txBox="1"/>
          <p:nvPr/>
        </p:nvSpPr>
        <p:spPr>
          <a:xfrm>
            <a:off x="939800" y="38354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H1 · RAG hilft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04C8EC6-F399-9206-A295-F953BE2DD14A}"/>
              </a:ext>
            </a:extLst>
          </p:cNvPr>
          <p:cNvSpPr txBox="1"/>
          <p:nvPr/>
        </p:nvSpPr>
        <p:spPr>
          <a:xfrm>
            <a:off x="939800" y="4305300"/>
            <a:ext cx="2768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Beide RAG-Verfahren sollten die kontextfreie Baseline übertreffen.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96D1D26-C399-4A71-2BC0-A4DD3AECE096}"/>
              </a:ext>
            </a:extLst>
          </p:cNvPr>
          <p:cNvSpPr/>
          <p:nvPr/>
        </p:nvSpPr>
        <p:spPr>
          <a:xfrm>
            <a:off x="4495800" y="3632200"/>
            <a:ext cx="3200400" cy="1905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00A8AED-ABB3-3C9F-80E4-9F765C563ABD}"/>
              </a:ext>
            </a:extLst>
          </p:cNvPr>
          <p:cNvSpPr/>
          <p:nvPr/>
        </p:nvSpPr>
        <p:spPr>
          <a:xfrm>
            <a:off x="4495800" y="3632200"/>
            <a:ext cx="76200" cy="19050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A57B4B4-B2F9-B1E0-928B-70F6F0F16E71}"/>
              </a:ext>
            </a:extLst>
          </p:cNvPr>
          <p:cNvSpPr txBox="1"/>
          <p:nvPr/>
        </p:nvSpPr>
        <p:spPr>
          <a:xfrm>
            <a:off x="4749800" y="38354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H2/H3 · Hop-Tiefe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A68E89E-C0BB-9108-338F-B09DB447E11A}"/>
              </a:ext>
            </a:extLst>
          </p:cNvPr>
          <p:cNvSpPr txBox="1"/>
          <p:nvPr/>
        </p:nvSpPr>
        <p:spPr>
          <a:xfrm>
            <a:off x="4749800" y="4305300"/>
            <a:ext cx="2768600" cy="7155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Bei einfachen Fragen ähnlich; erwarteter Graph-Vorteil bei 2–3 Hops.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834121D1-13FA-F23B-DC4A-566FEE547CB2}"/>
              </a:ext>
            </a:extLst>
          </p:cNvPr>
          <p:cNvSpPr/>
          <p:nvPr/>
        </p:nvSpPr>
        <p:spPr>
          <a:xfrm>
            <a:off x="8305800" y="3632200"/>
            <a:ext cx="3200400" cy="1905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2ECD2B7-161A-AC7F-4387-A87C6BAE9357}"/>
              </a:ext>
            </a:extLst>
          </p:cNvPr>
          <p:cNvSpPr/>
          <p:nvPr/>
        </p:nvSpPr>
        <p:spPr>
          <a:xfrm>
            <a:off x="8305800" y="3632200"/>
            <a:ext cx="76200" cy="19050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827B4AC-D29E-D126-0C56-21C8C00C8402}"/>
              </a:ext>
            </a:extLst>
          </p:cNvPr>
          <p:cNvSpPr txBox="1"/>
          <p:nvPr/>
        </p:nvSpPr>
        <p:spPr>
          <a:xfrm>
            <a:off x="8559800" y="38354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H4/H5 · Trade-off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38A635E-6D53-8994-1123-307439DF4FA3}"/>
              </a:ext>
            </a:extLst>
          </p:cNvPr>
          <p:cNvSpPr txBox="1"/>
          <p:nvPr/>
        </p:nvSpPr>
        <p:spPr>
          <a:xfrm>
            <a:off x="8559800" y="4305300"/>
            <a:ext cx="2768600" cy="7155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Weniger Konfabulation, aber mehr Kontext und höhere Kosten möglich.</a:t>
            </a:r>
          </a:p>
        </p:txBody>
      </p:sp>
    </p:spTree>
    <p:extLst>
      <p:ext uri="{BB962C8B-B14F-4D97-AF65-F5344CB8AC3E}">
        <p14:creationId xmlns:p14="http://schemas.microsoft.com/office/powerpoint/2010/main" val="16765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86122A5-30B9-DA76-C137-D5BBBA45FC43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STUDIENDESIGN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0906BD-2042-52F2-87B3-DA9CF5B296C5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Korpus, Fragen und Bedingungen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9E4FB19-DD9E-B897-4E47-596BA1447052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4FF194-B680-CA99-4B99-11720D84A9CC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06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BD16D34-9F4E-725D-A4AB-2677B06D2219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4362297-FE00-C7FE-9628-428D92F903BF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E4A5E8E-F9D0-6A89-B136-E87FB701D4CB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06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463681-B621-E13E-BF0B-5C3B37885593}"/>
              </a:ext>
            </a:extLst>
          </p:cNvPr>
          <p:cNvSpPr/>
          <p:nvPr/>
        </p:nvSpPr>
        <p:spPr>
          <a:xfrm>
            <a:off x="685800" y="1676400"/>
            <a:ext cx="29845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F37F383-3E93-ED06-61DA-CDF34D5517F8}"/>
              </a:ext>
            </a:extLst>
          </p:cNvPr>
          <p:cNvSpPr txBox="1"/>
          <p:nvPr/>
        </p:nvSpPr>
        <p:spPr>
          <a:xfrm>
            <a:off x="685800" y="1739900"/>
            <a:ext cx="2984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75 Entitäten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C825D06-27CA-6106-C2DA-0EDAA3CF1A57}"/>
              </a:ext>
            </a:extLst>
          </p:cNvPr>
          <p:cNvSpPr/>
          <p:nvPr/>
        </p:nvSpPr>
        <p:spPr>
          <a:xfrm>
            <a:off x="3835400" y="1676400"/>
            <a:ext cx="29845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5BF77AD-234B-2A93-8E14-23A074E1C4AA}"/>
              </a:ext>
            </a:extLst>
          </p:cNvPr>
          <p:cNvSpPr txBox="1"/>
          <p:nvPr/>
        </p:nvSpPr>
        <p:spPr>
          <a:xfrm>
            <a:off x="3835400" y="1739900"/>
            <a:ext cx="2984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165 typisierte Kanten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9115D75-BE5D-D57A-7C91-0C897F2C00C5}"/>
              </a:ext>
            </a:extLst>
          </p:cNvPr>
          <p:cNvSpPr/>
          <p:nvPr/>
        </p:nvSpPr>
        <p:spPr>
          <a:xfrm>
            <a:off x="6985000" y="1676400"/>
            <a:ext cx="22225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554199-664F-EF91-CB60-A719D7AB63E4}"/>
              </a:ext>
            </a:extLst>
          </p:cNvPr>
          <p:cNvSpPr txBox="1"/>
          <p:nvPr/>
        </p:nvSpPr>
        <p:spPr>
          <a:xfrm>
            <a:off x="6985000" y="1739900"/>
            <a:ext cx="2222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5 Communities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6A993F1-2AFD-49A6-BCA3-24C0E7B8C958}"/>
              </a:ext>
            </a:extLst>
          </p:cNvPr>
          <p:cNvSpPr/>
          <p:nvPr/>
        </p:nvSpPr>
        <p:spPr>
          <a:xfrm>
            <a:off x="9372600" y="1676400"/>
            <a:ext cx="21336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A17687E-434F-4067-92C1-C45C4D7DFB17}"/>
              </a:ext>
            </a:extLst>
          </p:cNvPr>
          <p:cNvSpPr txBox="1"/>
          <p:nvPr/>
        </p:nvSpPr>
        <p:spPr>
          <a:xfrm>
            <a:off x="9372600" y="1739900"/>
            <a:ext cx="213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40 Fragen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058DBD1-BB4A-E80D-6D02-A9B6A602CD89}"/>
              </a:ext>
            </a:extLst>
          </p:cNvPr>
          <p:cNvSpPr/>
          <p:nvPr/>
        </p:nvSpPr>
        <p:spPr>
          <a:xfrm>
            <a:off x="685800" y="2413000"/>
            <a:ext cx="3200400" cy="2667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062B2AC-941D-CBA7-9315-4FD7832B95A3}"/>
              </a:ext>
            </a:extLst>
          </p:cNvPr>
          <p:cNvSpPr/>
          <p:nvPr/>
        </p:nvSpPr>
        <p:spPr>
          <a:xfrm>
            <a:off x="685800" y="2413000"/>
            <a:ext cx="76200" cy="26670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62925D3-F16A-DBA3-AA8D-D2B1C5DA2341}"/>
              </a:ext>
            </a:extLst>
          </p:cNvPr>
          <p:cNvSpPr txBox="1"/>
          <p:nvPr/>
        </p:nvSpPr>
        <p:spPr>
          <a:xfrm>
            <a:off x="939800" y="26162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Kernbedingungen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59B1F16-028C-F3C0-9C30-FC0F8975558D}"/>
              </a:ext>
            </a:extLst>
          </p:cNvPr>
          <p:cNvSpPr txBox="1"/>
          <p:nvPr/>
        </p:nvSpPr>
        <p:spPr>
          <a:xfrm>
            <a:off x="939800" y="3086100"/>
            <a:ext cx="2768600" cy="8438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B0 · ohne Kontext
B1 · Vektor-RAG
B2 · Graph-RAG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A7A79BB-D6A9-CC2C-427B-C687B7162E99}"/>
              </a:ext>
            </a:extLst>
          </p:cNvPr>
          <p:cNvSpPr/>
          <p:nvPr/>
        </p:nvSpPr>
        <p:spPr>
          <a:xfrm>
            <a:off x="4495800" y="2413000"/>
            <a:ext cx="3200400" cy="2667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F61E4B4-2348-E662-258A-9AA5613488FE}"/>
              </a:ext>
            </a:extLst>
          </p:cNvPr>
          <p:cNvSpPr/>
          <p:nvPr/>
        </p:nvSpPr>
        <p:spPr>
          <a:xfrm>
            <a:off x="4495800" y="2413000"/>
            <a:ext cx="76200" cy="26670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A6F2E06-68C6-3BE8-E767-6667BC2D0668}"/>
              </a:ext>
            </a:extLst>
          </p:cNvPr>
          <p:cNvSpPr txBox="1"/>
          <p:nvPr/>
        </p:nvSpPr>
        <p:spPr>
          <a:xfrm>
            <a:off x="4749800" y="26162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Strata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3F3D9D0-4B32-EFEA-5095-1EE1B405D583}"/>
              </a:ext>
            </a:extLst>
          </p:cNvPr>
          <p:cNvSpPr txBox="1"/>
          <p:nvPr/>
        </p:nvSpPr>
        <p:spPr>
          <a:xfrm>
            <a:off x="4749800" y="3086100"/>
            <a:ext cx="27686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10 Einzeldokument/Direkt
14 echte 2-Hop
8 echte 3-Hop
4 Vergleich · 4 unbeantwortbar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E382616-556E-DB7B-0E42-ADA878186A04}"/>
              </a:ext>
            </a:extLst>
          </p:cNvPr>
          <p:cNvSpPr/>
          <p:nvPr/>
        </p:nvSpPr>
        <p:spPr>
          <a:xfrm>
            <a:off x="8305800" y="2413000"/>
            <a:ext cx="3200400" cy="2667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3C5967B-0401-4ADD-A628-42CC4A7AE41B}"/>
              </a:ext>
            </a:extLst>
          </p:cNvPr>
          <p:cNvSpPr/>
          <p:nvPr/>
        </p:nvSpPr>
        <p:spPr>
          <a:xfrm>
            <a:off x="8305800" y="2413000"/>
            <a:ext cx="76200" cy="26670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4DE1BDA-E100-2C5B-2FF4-CD64C2F16423}"/>
              </a:ext>
            </a:extLst>
          </p:cNvPr>
          <p:cNvSpPr txBox="1"/>
          <p:nvPr/>
        </p:nvSpPr>
        <p:spPr>
          <a:xfrm>
            <a:off x="8559800" y="26162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Zusatzbedingungen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A58C065-A760-F388-85C8-C196464A340D}"/>
              </a:ext>
            </a:extLst>
          </p:cNvPr>
          <p:cNvSpPr txBox="1"/>
          <p:nvPr/>
        </p:nvSpPr>
        <p:spPr>
          <a:xfrm>
            <a:off x="8559800" y="3086100"/>
            <a:ext cx="27686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B1b · gleiches Kontextbudget
B3 · Graph + Vektor
Kontrolle und Exploration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E82894B-6D3C-211F-380D-86F74DEAF2E6}"/>
              </a:ext>
            </a:extLst>
          </p:cNvPr>
          <p:cNvSpPr txBox="1"/>
          <p:nvPr/>
        </p:nvSpPr>
        <p:spPr>
          <a:xfrm>
            <a:off x="685800" y="5461000"/>
            <a:ext cx="10820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400">
                <a:solidFill>
                  <a:srgbClr val="CBD5E1"/>
                </a:solidFill>
                <a:latin typeface="Calibri" panose="020F0502020204030204" pitchFamily="34" charset="0"/>
              </a:rPr>
              <a:t>Domäne: Deutscher Idealismus · Wikipedia-basierte Inhalte · manuell geprüfte, eingefrorene Repräsentation</a:t>
            </a:r>
          </a:p>
        </p:txBody>
      </p:sp>
    </p:spTree>
    <p:extLst>
      <p:ext uri="{BB962C8B-B14F-4D97-AF65-F5344CB8AC3E}">
        <p14:creationId xmlns:p14="http://schemas.microsoft.com/office/powerpoint/2010/main" val="127652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C529EB6-3BEE-4405-9811-F4AB58601430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MESSPROTOKOLL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71555AD-9353-83AC-295B-8D2D8600D890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So halte ich Reihenfolge und Laufzeit fair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F304EDB-E394-3518-29BC-0D6CA7AD26AB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4AD500-7F87-9E81-70B6-E32E6E2AC3CB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07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90EF143-20C6-E764-EE71-F2F7A8D0B0A2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64AED0F-5FDC-624F-9F64-7ABA82C44A28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A976633-DD87-C850-910E-646D4F852AF8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07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BC7CEC1-58D6-9CF5-D943-535DC659DFAE}"/>
              </a:ext>
            </a:extLst>
          </p:cNvPr>
          <p:cNvSpPr/>
          <p:nvPr/>
        </p:nvSpPr>
        <p:spPr>
          <a:xfrm>
            <a:off x="685800" y="1955800"/>
            <a:ext cx="2336800" cy="33528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597B493-E8DD-DD21-4383-BCFEE9A8C3AC}"/>
              </a:ext>
            </a:extLst>
          </p:cNvPr>
          <p:cNvSpPr/>
          <p:nvPr/>
        </p:nvSpPr>
        <p:spPr>
          <a:xfrm>
            <a:off x="914400" y="2184400"/>
            <a:ext cx="609600" cy="35560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9DAEDFE-EE63-3861-428A-026A5B9F15E6}"/>
              </a:ext>
            </a:extLst>
          </p:cNvPr>
          <p:cNvSpPr txBox="1"/>
          <p:nvPr/>
        </p:nvSpPr>
        <p:spPr>
          <a:xfrm>
            <a:off x="914400" y="2247900"/>
            <a:ext cx="609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0F293B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18ACBC2-ECC3-6B2C-CC57-C7E1FE3280E4}"/>
              </a:ext>
            </a:extLst>
          </p:cNvPr>
          <p:cNvSpPr txBox="1"/>
          <p:nvPr/>
        </p:nvSpPr>
        <p:spPr>
          <a:xfrm>
            <a:off x="914400" y="2819400"/>
            <a:ext cx="1879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700" b="1">
                <a:solidFill>
                  <a:srgbClr val="F8FAFC"/>
                </a:solidFill>
                <a:latin typeface="Calibri" panose="020F0502020204030204" pitchFamily="34" charset="0"/>
              </a:rPr>
              <a:t>Gleicher Prompt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977B166-10E5-F16C-838A-9A6378DA9C38}"/>
              </a:ext>
            </a:extLst>
          </p:cNvPr>
          <p:cNvSpPr txBox="1"/>
          <p:nvPr/>
        </p:nvSpPr>
        <p:spPr>
          <a:xfrm>
            <a:off x="914400" y="3429000"/>
            <a:ext cx="1879600" cy="6555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420">
                <a:solidFill>
                  <a:srgbClr val="CBD5E1"/>
                </a:solidFill>
                <a:latin typeface="Calibri" panose="020F0502020204030204" pitchFamily="34" charset="0"/>
              </a:rPr>
              <a:t>Modell, Temperatur und Antwortlimit bleiben konstant.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22890B0-542D-5C70-B7BA-DBC8B744FC81}"/>
              </a:ext>
            </a:extLst>
          </p:cNvPr>
          <p:cNvSpPr/>
          <p:nvPr/>
        </p:nvSpPr>
        <p:spPr>
          <a:xfrm>
            <a:off x="3429000" y="1955800"/>
            <a:ext cx="2336800" cy="33528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37D7D8A-637A-BEA2-C475-47AF1B6E005E}"/>
              </a:ext>
            </a:extLst>
          </p:cNvPr>
          <p:cNvSpPr/>
          <p:nvPr/>
        </p:nvSpPr>
        <p:spPr>
          <a:xfrm>
            <a:off x="3657600" y="2184400"/>
            <a:ext cx="609600" cy="355600"/>
          </a:xfrm>
          <a:prstGeom prst="round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EB259A7-F4DC-770B-4232-E97DE53522DE}"/>
              </a:ext>
            </a:extLst>
          </p:cNvPr>
          <p:cNvSpPr txBox="1"/>
          <p:nvPr/>
        </p:nvSpPr>
        <p:spPr>
          <a:xfrm>
            <a:off x="3657600" y="2247900"/>
            <a:ext cx="609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0F293B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6BA0E4A-3DD6-712A-6196-EED17B049755}"/>
              </a:ext>
            </a:extLst>
          </p:cNvPr>
          <p:cNvSpPr txBox="1"/>
          <p:nvPr/>
        </p:nvSpPr>
        <p:spPr>
          <a:xfrm>
            <a:off x="3657600" y="2819400"/>
            <a:ext cx="1879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700" b="1">
                <a:solidFill>
                  <a:srgbClr val="F8FAFC"/>
                </a:solidFill>
                <a:latin typeface="Calibri" panose="020F0502020204030204" pitchFamily="34" charset="0"/>
              </a:rPr>
              <a:t>Gegenbalanciert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C1F1AE2-1C6A-8102-CD73-7CE825A061BB}"/>
              </a:ext>
            </a:extLst>
          </p:cNvPr>
          <p:cNvSpPr txBox="1"/>
          <p:nvPr/>
        </p:nvSpPr>
        <p:spPr>
          <a:xfrm>
            <a:off x="3657600" y="3429000"/>
            <a:ext cx="1879600" cy="6555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420">
                <a:solidFill>
                  <a:srgbClr val="CBD5E1"/>
                </a:solidFill>
                <a:latin typeface="Calibri" panose="020F0502020204030204" pitchFamily="34" charset="0"/>
              </a:rPr>
              <a:t>Fragen seeded gemischt; Bedingungen zyklisch rotiert.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4CAA3EB-2A59-A94A-2E51-DC6EA21AE059}"/>
              </a:ext>
            </a:extLst>
          </p:cNvPr>
          <p:cNvSpPr/>
          <p:nvPr/>
        </p:nvSpPr>
        <p:spPr>
          <a:xfrm>
            <a:off x="6172200" y="1955800"/>
            <a:ext cx="2336800" cy="33528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0DA1B2A8-AC91-4E94-51CD-303878BF20A0}"/>
              </a:ext>
            </a:extLst>
          </p:cNvPr>
          <p:cNvSpPr/>
          <p:nvPr/>
        </p:nvSpPr>
        <p:spPr>
          <a:xfrm>
            <a:off x="6400800" y="2184400"/>
            <a:ext cx="609600" cy="35560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B4279DE-E277-DB56-5781-FE31AC938385}"/>
              </a:ext>
            </a:extLst>
          </p:cNvPr>
          <p:cNvSpPr txBox="1"/>
          <p:nvPr/>
        </p:nvSpPr>
        <p:spPr>
          <a:xfrm>
            <a:off x="6400800" y="2247900"/>
            <a:ext cx="609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0F293B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8A1C707-9EF4-2D13-127E-181FCF6AE3A6}"/>
              </a:ext>
            </a:extLst>
          </p:cNvPr>
          <p:cNvSpPr txBox="1"/>
          <p:nvPr/>
        </p:nvSpPr>
        <p:spPr>
          <a:xfrm>
            <a:off x="6400800" y="2819400"/>
            <a:ext cx="1879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700" b="1">
                <a:solidFill>
                  <a:srgbClr val="F8FAFC"/>
                </a:solidFill>
                <a:latin typeface="Calibri" panose="020F0502020204030204" pitchFamily="34" charset="0"/>
              </a:rPr>
              <a:t>3 Wiederholungen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7115A13-7D63-7C15-90ED-E192F8062429}"/>
              </a:ext>
            </a:extLst>
          </p:cNvPr>
          <p:cNvSpPr txBox="1"/>
          <p:nvPr/>
        </p:nvSpPr>
        <p:spPr>
          <a:xfrm>
            <a:off x="6400800" y="3429000"/>
            <a:ext cx="1879600" cy="6555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420">
                <a:solidFill>
                  <a:srgbClr val="CBD5E1"/>
                </a:solidFill>
                <a:latin typeface="Calibri" panose="020F0502020204030204" pitchFamily="34" charset="0"/>
              </a:rPr>
              <a:t>Jeder Lauf bleibt mit Run-ID und Seed erhalten.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046BB888-1F20-5C6A-B76D-A20C27B57733}"/>
              </a:ext>
            </a:extLst>
          </p:cNvPr>
          <p:cNvSpPr/>
          <p:nvPr/>
        </p:nvSpPr>
        <p:spPr>
          <a:xfrm>
            <a:off x="8915400" y="1955800"/>
            <a:ext cx="2336800" cy="33528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4D680327-7118-F070-EA41-F4D40F0F5A58}"/>
              </a:ext>
            </a:extLst>
          </p:cNvPr>
          <p:cNvSpPr/>
          <p:nvPr/>
        </p:nvSpPr>
        <p:spPr>
          <a:xfrm>
            <a:off x="9144000" y="2184400"/>
            <a:ext cx="609600" cy="3556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8AC07FF-6C53-6DB7-FF78-6C4FADC090E1}"/>
              </a:ext>
            </a:extLst>
          </p:cNvPr>
          <p:cNvSpPr txBox="1"/>
          <p:nvPr/>
        </p:nvSpPr>
        <p:spPr>
          <a:xfrm>
            <a:off x="9144000" y="2247900"/>
            <a:ext cx="609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0F293B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49BCEB3-B35E-6EB7-2F6C-F4EB6A2A3487}"/>
              </a:ext>
            </a:extLst>
          </p:cNvPr>
          <p:cNvSpPr txBox="1"/>
          <p:nvPr/>
        </p:nvSpPr>
        <p:spPr>
          <a:xfrm>
            <a:off x="9144000" y="2819400"/>
            <a:ext cx="1879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700" b="1">
                <a:solidFill>
                  <a:srgbClr val="F8FAFC"/>
                </a:solidFill>
                <a:latin typeface="Calibri" panose="020F0502020204030204" pitchFamily="34" charset="0"/>
              </a:rPr>
              <a:t>Echte E2E-Zeit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79AB5F-E6F5-F731-1200-E63D2FDF7C33}"/>
              </a:ext>
            </a:extLst>
          </p:cNvPr>
          <p:cNvSpPr txBox="1"/>
          <p:nvPr/>
        </p:nvSpPr>
        <p:spPr>
          <a:xfrm>
            <a:off x="9144000" y="3429000"/>
            <a:ext cx="1879600" cy="8740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420">
                <a:solidFill>
                  <a:srgbClr val="CBD5E1"/>
                </a:solidFill>
                <a:latin typeface="Calibri" panose="020F0502020204030204" pitchFamily="34" charset="0"/>
              </a:rPr>
              <a:t>Retrieval und Generierung werden getrennt und gemeinsam gemessen.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6A9720E-3BA3-11EC-5BA6-87695CE4C4D6}"/>
              </a:ext>
            </a:extLst>
          </p:cNvPr>
          <p:cNvSpPr txBox="1"/>
          <p:nvPr/>
        </p:nvSpPr>
        <p:spPr>
          <a:xfrm>
            <a:off x="685800" y="5715000"/>
            <a:ext cx="1082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700" b="1">
                <a:solidFill>
                  <a:srgbClr val="5EEAD4"/>
                </a:solidFill>
                <a:latin typeface="Calibri" panose="020F0502020204030204" pitchFamily="34" charset="0"/>
              </a:rPr>
              <a:t>40 Fragen × 3 Kernbedingungen × 2 Modelle × 3 Wiederholungen = 720 Kern-Trials</a:t>
            </a:r>
          </a:p>
        </p:txBody>
      </p:sp>
    </p:spTree>
    <p:extLst>
      <p:ext uri="{BB962C8B-B14F-4D97-AF65-F5344CB8AC3E}">
        <p14:creationId xmlns:p14="http://schemas.microsoft.com/office/powerpoint/2010/main" val="43832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94998C5-F6F4-6BDC-7113-6D8719718FAE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AUSWERTUNG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1C11056-0847-DF80-E399-CBC3908DF943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Mehr als nur ein Gewinner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298E767-A7F1-3A59-2E89-5304B9A42CB3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996062-1F66-3CCA-92F9-AE729632F754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08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219FF36-F752-FDDA-3CBD-5E33E4AAEE2D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BEEF74-E8C7-2076-EE4F-81CD5EB4C4B6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82E182D-D8A5-7707-F585-517B0CC8BBEE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08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6881DA0-B9E8-B7D6-1AD6-C6FC13CD2DA5}"/>
              </a:ext>
            </a:extLst>
          </p:cNvPr>
          <p:cNvSpPr/>
          <p:nvPr/>
        </p:nvSpPr>
        <p:spPr>
          <a:xfrm>
            <a:off x="685800" y="1803400"/>
            <a:ext cx="3200400" cy="3556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CAED3B6-AAB4-6BC6-F0CE-C1524E16AC8A}"/>
              </a:ext>
            </a:extLst>
          </p:cNvPr>
          <p:cNvSpPr/>
          <p:nvPr/>
        </p:nvSpPr>
        <p:spPr>
          <a:xfrm>
            <a:off x="685800" y="1803400"/>
            <a:ext cx="76200" cy="35560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84857A9-DC70-B96C-3FD2-F0E3D10C2FD3}"/>
              </a:ext>
            </a:extLst>
          </p:cNvPr>
          <p:cNvSpPr txBox="1"/>
          <p:nvPr/>
        </p:nvSpPr>
        <p:spPr>
          <a:xfrm>
            <a:off x="939800" y="20066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Antwortqualität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787C74-D911-1317-3D82-5F178B0F8E67}"/>
              </a:ext>
            </a:extLst>
          </p:cNvPr>
          <p:cNvSpPr txBox="1"/>
          <p:nvPr/>
        </p:nvSpPr>
        <p:spPr>
          <a:xfrm>
            <a:off x="939800" y="2476500"/>
            <a:ext cx="2768600" cy="16235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• verblindete Doppelbewertung
• korrekt / teilweise / falsch / Enthaltung
• Cohens κ
• Halluzinations- und Enthaltungsrate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876095D-7AED-CC8E-D728-DAECF10C55CC}"/>
              </a:ext>
            </a:extLst>
          </p:cNvPr>
          <p:cNvSpPr/>
          <p:nvPr/>
        </p:nvSpPr>
        <p:spPr>
          <a:xfrm>
            <a:off x="4495800" y="1803400"/>
            <a:ext cx="3200400" cy="3556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4D6212A-D6EE-958B-2676-824EDA510E7D}"/>
              </a:ext>
            </a:extLst>
          </p:cNvPr>
          <p:cNvSpPr/>
          <p:nvPr/>
        </p:nvSpPr>
        <p:spPr>
          <a:xfrm>
            <a:off x="4495800" y="1803400"/>
            <a:ext cx="76200" cy="35560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A02C72C-2EE8-29A9-DCB1-7E3C75A336D8}"/>
              </a:ext>
            </a:extLst>
          </p:cNvPr>
          <p:cNvSpPr txBox="1"/>
          <p:nvPr/>
        </p:nvSpPr>
        <p:spPr>
          <a:xfrm>
            <a:off x="4749800" y="20066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Retrieval-Diagnose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AB36A1-F95D-915D-D87C-B6054A274F52}"/>
              </a:ext>
            </a:extLst>
          </p:cNvPr>
          <p:cNvSpPr txBox="1"/>
          <p:nvPr/>
        </p:nvSpPr>
        <p:spPr>
          <a:xfrm>
            <a:off x="4749800" y="2476500"/>
            <a:ext cx="27686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• Evidenz-Recall
• Evidenz-Präzision
• Goldpfad vollständig?
• Retrieval- oder Generierungsfehler?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DAC1E601-BD6E-3838-EC0F-5CFD2B4BBEDC}"/>
              </a:ext>
            </a:extLst>
          </p:cNvPr>
          <p:cNvSpPr/>
          <p:nvPr/>
        </p:nvSpPr>
        <p:spPr>
          <a:xfrm>
            <a:off x="8305800" y="1803400"/>
            <a:ext cx="3200400" cy="35560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B139F30-D0E8-C1B1-87FC-BB131CE7CE3C}"/>
              </a:ext>
            </a:extLst>
          </p:cNvPr>
          <p:cNvSpPr/>
          <p:nvPr/>
        </p:nvSpPr>
        <p:spPr>
          <a:xfrm>
            <a:off x="8305800" y="1803400"/>
            <a:ext cx="76200" cy="3556000"/>
          </a:xfrm>
          <a:prstGeom prst="rect">
            <a:avLst/>
          </a:prstGeom>
          <a:solidFill>
            <a:srgbClr val="FBBF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C9815E9-32D2-D960-ED7C-8C4EF804D6AA}"/>
              </a:ext>
            </a:extLst>
          </p:cNvPr>
          <p:cNvSpPr txBox="1"/>
          <p:nvPr/>
        </p:nvSpPr>
        <p:spPr>
          <a:xfrm>
            <a:off x="8559800" y="2006600"/>
            <a:ext cx="2768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Ressourcen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17B00F6-26B4-03C5-94B0-B31FCEFF44F4}"/>
              </a:ext>
            </a:extLst>
          </p:cNvPr>
          <p:cNvSpPr txBox="1"/>
          <p:nvPr/>
        </p:nvSpPr>
        <p:spPr>
          <a:xfrm>
            <a:off x="8559800" y="2476500"/>
            <a:ext cx="2768600" cy="11464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• End-to-End-Latenz
• Retrievalzeit
• Generierungszeit
• Kontext- und Modellgröße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38E96B0-8D32-4892-6704-03460CC0FD3A}"/>
              </a:ext>
            </a:extLst>
          </p:cNvPr>
          <p:cNvSpPr txBox="1"/>
          <p:nvPr/>
        </p:nvSpPr>
        <p:spPr>
          <a:xfrm>
            <a:off x="685800" y="5715000"/>
            <a:ext cx="1082040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450" b="1">
                <a:solidFill>
                  <a:srgbClr val="CBD5E1"/>
                </a:solidFill>
                <a:latin typeface="Calibri" panose="020F0502020204030204" pitchFamily="34" charset="0"/>
              </a:rPr>
              <a:t>Primärvergleich: Graph-RAG vs. Vektor-RAG auf Multi-Hop-Fragen · Effektstärke + 95-%-Konfidenzintervall</a:t>
            </a:r>
          </a:p>
        </p:txBody>
      </p:sp>
    </p:spTree>
    <p:extLst>
      <p:ext uri="{BB962C8B-B14F-4D97-AF65-F5344CB8AC3E}">
        <p14:creationId xmlns:p14="http://schemas.microsoft.com/office/powerpoint/2010/main" val="2321477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A5E34D0-661D-E3E2-8D25-AFEA2AF0153C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ARTEFAKT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179B7A5-5A45-ADD0-7C9A-66AFD713A984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Graph-RAG Lab ist mein Messinstrument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9FA5471-A99D-5B2A-11CC-066EF3A491A7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BBFD6D5-5E7F-FAC1-9757-D78AD98BF6B3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09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D0256-A536-4BB2-AE98-131BB5B6E0F7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0591844-516E-E7C7-D7E6-B3B7561DD473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5CFA59E-3D1C-A8B0-D6B1-78D1B067DB23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09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107A0F9-C18E-EC5D-3FD6-B63741C9ACD7}"/>
              </a:ext>
            </a:extLst>
          </p:cNvPr>
          <p:cNvSpPr/>
          <p:nvPr/>
        </p:nvSpPr>
        <p:spPr>
          <a:xfrm>
            <a:off x="685800" y="1752600"/>
            <a:ext cx="6959600" cy="40894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BED7B69-8DE2-ECC4-2128-3CAACB7C2B86}"/>
              </a:ext>
            </a:extLst>
          </p:cNvPr>
          <p:cNvSpPr/>
          <p:nvPr/>
        </p:nvSpPr>
        <p:spPr>
          <a:xfrm>
            <a:off x="914400" y="1981200"/>
            <a:ext cx="1498600" cy="36322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E43C2FE-747D-8AC2-0A85-DF26C5242C16}"/>
              </a:ext>
            </a:extLst>
          </p:cNvPr>
          <p:cNvSpPr txBox="1"/>
          <p:nvPr/>
        </p:nvSpPr>
        <p:spPr>
          <a:xfrm>
            <a:off x="1104900" y="2235200"/>
            <a:ext cx="1117600" cy="5411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550" b="1">
                <a:solidFill>
                  <a:srgbClr val="F8FAFC"/>
                </a:solidFill>
                <a:latin typeface="Calibri" panose="020F0502020204030204" pitchFamily="34" charset="0"/>
              </a:rPr>
              <a:t>Graph-RAG
Lab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7D17168-D39C-EB8B-CDAF-188A28D61980}"/>
              </a:ext>
            </a:extLst>
          </p:cNvPr>
          <p:cNvSpPr txBox="1"/>
          <p:nvPr/>
        </p:nvSpPr>
        <p:spPr>
          <a:xfrm>
            <a:off x="1117600" y="3022600"/>
            <a:ext cx="1092200" cy="2587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>
                <a:solidFill>
                  <a:srgbClr val="CBD5E1"/>
                </a:solidFill>
                <a:latin typeface="Calibri" panose="020F0502020204030204" pitchFamily="34" charset="0"/>
              </a:rPr>
              <a:t>Übersicht
Explorer
Assistent
Experiment
Bewerten
Ergebnisse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7FD6CAE-5EA3-9EFE-E910-9FA31093EEFC}"/>
              </a:ext>
            </a:extLst>
          </p:cNvPr>
          <p:cNvSpPr txBox="1"/>
          <p:nvPr/>
        </p:nvSpPr>
        <p:spPr>
          <a:xfrm>
            <a:off x="2743200" y="2159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b="1">
                <a:solidFill>
                  <a:srgbClr val="F8FAFC"/>
                </a:solidFill>
                <a:latin typeface="Calibri" panose="020F0502020204030204" pitchFamily="34" charset="0"/>
              </a:rPr>
              <a:t>Experiment · Q22 · 3-Hop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6214FD9-5074-DEED-6330-4778BCCE828A}"/>
              </a:ext>
            </a:extLst>
          </p:cNvPr>
          <p:cNvSpPr/>
          <p:nvPr/>
        </p:nvSpPr>
        <p:spPr>
          <a:xfrm>
            <a:off x="2743200" y="2717800"/>
            <a:ext cx="11684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4FFA5CB-A941-5711-987A-843CDF3E7724}"/>
              </a:ext>
            </a:extLst>
          </p:cNvPr>
          <p:cNvSpPr txBox="1"/>
          <p:nvPr/>
        </p:nvSpPr>
        <p:spPr>
          <a:xfrm>
            <a:off x="2743200" y="2781300"/>
            <a:ext cx="116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FB7185"/>
                </a:solidFill>
                <a:latin typeface="Calibri" panose="020F0502020204030204" pitchFamily="34" charset="0"/>
              </a:rPr>
              <a:t>Baseline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3A2A2D5-E377-0FFB-D718-346BB3DAD168}"/>
              </a:ext>
            </a:extLst>
          </p:cNvPr>
          <p:cNvSpPr/>
          <p:nvPr/>
        </p:nvSpPr>
        <p:spPr>
          <a:xfrm>
            <a:off x="4038600" y="2717800"/>
            <a:ext cx="11684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BA507BA-C6C0-E76C-37B1-2DB734FDBDC7}"/>
              </a:ext>
            </a:extLst>
          </p:cNvPr>
          <p:cNvSpPr txBox="1"/>
          <p:nvPr/>
        </p:nvSpPr>
        <p:spPr>
          <a:xfrm>
            <a:off x="4038600" y="2781300"/>
            <a:ext cx="116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60A5FA"/>
                </a:solidFill>
                <a:latin typeface="Calibri" panose="020F0502020204030204" pitchFamily="34" charset="0"/>
              </a:rPr>
              <a:t>Vektor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62E56D8-D1A6-5EA9-8136-76F1A82CA99B}"/>
              </a:ext>
            </a:extLst>
          </p:cNvPr>
          <p:cNvSpPr/>
          <p:nvPr/>
        </p:nvSpPr>
        <p:spPr>
          <a:xfrm>
            <a:off x="5334000" y="2717800"/>
            <a:ext cx="1168400" cy="355600"/>
          </a:xfrm>
          <a:prstGeom prst="roundRect">
            <a:avLst/>
          </a:prstGeom>
          <a:solidFill>
            <a:srgbClr val="1F495C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1ED67CF-59EE-0F7A-8243-20E805E2BACF}"/>
              </a:ext>
            </a:extLst>
          </p:cNvPr>
          <p:cNvSpPr txBox="1"/>
          <p:nvPr/>
        </p:nvSpPr>
        <p:spPr>
          <a:xfrm>
            <a:off x="5334000" y="2781300"/>
            <a:ext cx="116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Graph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C55879A3-9612-FDE9-C848-7B314DDBAFA1}"/>
              </a:ext>
            </a:extLst>
          </p:cNvPr>
          <p:cNvSpPr/>
          <p:nvPr/>
        </p:nvSpPr>
        <p:spPr>
          <a:xfrm>
            <a:off x="2743200" y="3302000"/>
            <a:ext cx="4445000" cy="1676400"/>
          </a:xfrm>
          <a:prstGeom prst="roundRect">
            <a:avLst/>
          </a:prstGeom>
          <a:solidFill>
            <a:srgbClr val="0F293B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0DD08FA-4842-0B49-FE5A-B81B248FDA4E}"/>
              </a:ext>
            </a:extLst>
          </p:cNvPr>
          <p:cNvSpPr txBox="1"/>
          <p:nvPr/>
        </p:nvSpPr>
        <p:spPr>
          <a:xfrm>
            <a:off x="2946400" y="3505200"/>
            <a:ext cx="4013200" cy="9900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400">
                <a:solidFill>
                  <a:srgbClr val="CBD5E1"/>
                </a:solidFill>
                <a:latin typeface="Calibri" panose="020F0502020204030204" pitchFamily="34" charset="0"/>
              </a:rPr>
              <a:t>Frage → Retrieval → lokales LLM
Antwort, Kontext, Evidenzpfad und Laufzeiten bleiben vollständig sichtbar.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93818160-5DC9-B42D-81C6-800D1ADAF914}"/>
              </a:ext>
            </a:extLst>
          </p:cNvPr>
          <p:cNvSpPr/>
          <p:nvPr/>
        </p:nvSpPr>
        <p:spPr>
          <a:xfrm>
            <a:off x="8102600" y="1752600"/>
            <a:ext cx="3403600" cy="40894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0C4B378-B7CA-619D-8484-EB21EE591437}"/>
              </a:ext>
            </a:extLst>
          </p:cNvPr>
          <p:cNvSpPr/>
          <p:nvPr/>
        </p:nvSpPr>
        <p:spPr>
          <a:xfrm>
            <a:off x="8102600" y="1752600"/>
            <a:ext cx="76200" cy="40894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1071D9E-0B70-2C7C-B5C9-A1E353185033}"/>
              </a:ext>
            </a:extLst>
          </p:cNvPr>
          <p:cNvSpPr txBox="1"/>
          <p:nvPr/>
        </p:nvSpPr>
        <p:spPr>
          <a:xfrm>
            <a:off x="8356600" y="1955800"/>
            <a:ext cx="2971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Für die Live-Demo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242446E-D7AE-A345-8E04-14677E11A82D}"/>
              </a:ext>
            </a:extLst>
          </p:cNvPr>
          <p:cNvSpPr txBox="1"/>
          <p:nvPr/>
        </p:nvSpPr>
        <p:spPr>
          <a:xfrm>
            <a:off x="8356600" y="2425700"/>
            <a:ext cx="2971800" cy="2292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1. Dieselbe Frage in B0, B1 und B2
2. Retrieval-Kontext und Subgraph öffnen
3. Messwerte vergleichen
4. Rohdaten exportieren</a:t>
            </a:r>
          </a:p>
        </p:txBody>
      </p:sp>
    </p:spTree>
    <p:extLst>
      <p:ext uri="{BB962C8B-B14F-4D97-AF65-F5344CB8AC3E}">
        <p14:creationId xmlns:p14="http://schemas.microsoft.com/office/powerpoint/2010/main" val="324140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0DF6538-D1D7-7D5D-060B-6696438C6271}"/>
              </a:ext>
            </a:extLst>
          </p:cNvPr>
          <p:cNvSpPr txBox="1"/>
          <p:nvPr/>
        </p:nvSpPr>
        <p:spPr>
          <a:xfrm>
            <a:off x="685800" y="431800"/>
            <a:ext cx="889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150" b="1">
                <a:solidFill>
                  <a:srgbClr val="5EEAD4"/>
                </a:solidFill>
                <a:latin typeface="Calibri" panose="020F0502020204030204" pitchFamily="34" charset="0"/>
              </a:rPr>
              <a:t>EINORDNUNG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14917B-CFB4-C24D-63F8-9FDBA2684F0D}"/>
              </a:ext>
            </a:extLst>
          </p:cNvPr>
          <p:cNvSpPr txBox="1"/>
          <p:nvPr/>
        </p:nvSpPr>
        <p:spPr>
          <a:xfrm>
            <a:off x="685800" y="812800"/>
            <a:ext cx="1003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3000" b="1">
                <a:solidFill>
                  <a:srgbClr val="F8FAFC"/>
                </a:solidFill>
                <a:latin typeface="Century Schoolbook" panose="02040604050505020304" pitchFamily="18" charset="0"/>
              </a:rPr>
              <a:t>Grenzen und Transparenz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8532CC-7EB4-88BA-585B-EE75B41A9C71}"/>
              </a:ext>
            </a:extLst>
          </p:cNvPr>
          <p:cNvSpPr/>
          <p:nvPr/>
        </p:nvSpPr>
        <p:spPr>
          <a:xfrm>
            <a:off x="685800" y="1536700"/>
            <a:ext cx="812800" cy="381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BF0ACB-6C32-9ECC-C8E4-DD24EEF9CE54}"/>
              </a:ext>
            </a:extLst>
          </p:cNvPr>
          <p:cNvSpPr txBox="1"/>
          <p:nvPr/>
        </p:nvSpPr>
        <p:spPr>
          <a:xfrm>
            <a:off x="10642600" y="419100"/>
            <a:ext cx="8636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3100" b="1">
                <a:solidFill>
                  <a:srgbClr val="1F495C"/>
                </a:solidFill>
                <a:latin typeface="Century Schoolbook" panose="02040604050505020304" pitchFamily="18" charset="0"/>
              </a:rPr>
              <a:t>10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2D7D262-C1EF-670C-8F29-1111BC6FB518}"/>
              </a:ext>
            </a:extLst>
          </p:cNvPr>
          <p:cNvSpPr/>
          <p:nvPr/>
        </p:nvSpPr>
        <p:spPr>
          <a:xfrm>
            <a:off x="685800" y="6502400"/>
            <a:ext cx="10820400" cy="25400"/>
          </a:xfrm>
          <a:prstGeom prst="rect">
            <a:avLst/>
          </a:prstGeom>
          <a:solidFill>
            <a:srgbClr val="1F4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17C90B-70E7-DC74-28CD-474DEDC30721}"/>
              </a:ext>
            </a:extLst>
          </p:cNvPr>
          <p:cNvSpPr txBox="1"/>
          <p:nvPr/>
        </p:nvSpPr>
        <p:spPr>
          <a:xfrm>
            <a:off x="685800" y="6578600"/>
            <a:ext cx="825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950">
                <a:solidFill>
                  <a:srgbClr val="94A3B8"/>
                </a:solidFill>
                <a:latin typeface="Calibri" panose="020F0502020204030204" pitchFamily="34" charset="0"/>
              </a:rPr>
              <a:t>Proseminar »Let ChatGPT do the work?!« · SoSe 2026</a:t>
            </a:r>
            <a:endParaRPr lang="de-DE" sz="95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0D9F47D-1344-13FB-57F8-739A75D05D11}"/>
              </a:ext>
            </a:extLst>
          </p:cNvPr>
          <p:cNvSpPr txBox="1"/>
          <p:nvPr/>
        </p:nvSpPr>
        <p:spPr>
          <a:xfrm>
            <a:off x="10922000" y="6578600"/>
            <a:ext cx="584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950" b="1">
                <a:solidFill>
                  <a:srgbClr val="94A3B8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10D39AA-CDEC-6FB9-B97C-62A1951A60F9}"/>
              </a:ext>
            </a:extLst>
          </p:cNvPr>
          <p:cNvSpPr/>
          <p:nvPr/>
        </p:nvSpPr>
        <p:spPr>
          <a:xfrm>
            <a:off x="685800" y="1778000"/>
            <a:ext cx="5130800" cy="34544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F54F3DC-98EA-C7EC-1240-1F3BC38DAA28}"/>
              </a:ext>
            </a:extLst>
          </p:cNvPr>
          <p:cNvSpPr/>
          <p:nvPr/>
        </p:nvSpPr>
        <p:spPr>
          <a:xfrm>
            <a:off x="685800" y="1778000"/>
            <a:ext cx="76200" cy="3454400"/>
          </a:xfrm>
          <a:prstGeom prst="rect">
            <a:avLst/>
          </a:prstGeom>
          <a:solidFill>
            <a:srgbClr val="FB71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CB499B-1D0F-9EF5-AC5D-0027C35C37EC}"/>
              </a:ext>
            </a:extLst>
          </p:cNvPr>
          <p:cNvSpPr txBox="1"/>
          <p:nvPr/>
        </p:nvSpPr>
        <p:spPr>
          <a:xfrm>
            <a:off x="939800" y="1981200"/>
            <a:ext cx="4699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Grenzen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914904F-4B90-5877-D3A3-54C4FE2C87BC}"/>
              </a:ext>
            </a:extLst>
          </p:cNvPr>
          <p:cNvSpPr txBox="1"/>
          <p:nvPr/>
        </p:nvSpPr>
        <p:spPr>
          <a:xfrm>
            <a:off x="939800" y="2451100"/>
            <a:ext cx="4699000" cy="1687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• eine Domäne und eine Sprache
• zwei kleine Modelle, 40 Fragen
• kuratierter statt automatisch erzeugter Graph
• Pipelinevergleich: Auswahl und Darstellungsform ändern sich
• explorativer Nachweis, kein universeller Benchmark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8B4F171-C199-677E-4638-B697B34C4F04}"/>
              </a:ext>
            </a:extLst>
          </p:cNvPr>
          <p:cNvSpPr/>
          <p:nvPr/>
        </p:nvSpPr>
        <p:spPr>
          <a:xfrm>
            <a:off x="6375400" y="1778000"/>
            <a:ext cx="5130800" cy="3454400"/>
          </a:xfrm>
          <a:prstGeom prst="roundRect">
            <a:avLst/>
          </a:prstGeom>
          <a:solidFill>
            <a:srgbClr val="17394D"/>
          </a:solidFill>
          <a:ln w="12700">
            <a:solidFill>
              <a:srgbClr val="1F49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ADDF160-35E0-CF5C-5547-19D608CEC072}"/>
              </a:ext>
            </a:extLst>
          </p:cNvPr>
          <p:cNvSpPr/>
          <p:nvPr/>
        </p:nvSpPr>
        <p:spPr>
          <a:xfrm>
            <a:off x="6375400" y="1778000"/>
            <a:ext cx="76200" cy="3454400"/>
          </a:xfrm>
          <a:prstGeom prst="rect">
            <a:avLst/>
          </a:prstGeom>
          <a:solidFill>
            <a:srgbClr val="5EEA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9373C90-5130-105E-0E9C-47E428C38DDB}"/>
              </a:ext>
            </a:extLst>
          </p:cNvPr>
          <p:cNvSpPr txBox="1"/>
          <p:nvPr/>
        </p:nvSpPr>
        <p:spPr>
          <a:xfrm>
            <a:off x="6629400" y="1981200"/>
            <a:ext cx="4699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900" b="1">
                <a:solidFill>
                  <a:srgbClr val="F8FAFC"/>
                </a:solidFill>
                <a:latin typeface="Calibri" panose="020F0502020204030204" pitchFamily="34" charset="0"/>
              </a:rPr>
              <a:t>Mein KI-Einsatz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A098577-6F53-5EF2-6410-E04FE01EEC11}"/>
              </a:ext>
            </a:extLst>
          </p:cNvPr>
          <p:cNvSpPr txBox="1"/>
          <p:nvPr/>
        </p:nvSpPr>
        <p:spPr>
          <a:xfrm>
            <a:off x="6629400" y="2451100"/>
            <a:ext cx="46990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de-DE" sz="1550">
                <a:solidFill>
                  <a:srgbClr val="CBD5E1"/>
                </a:solidFill>
                <a:latin typeface="Calibri" panose="020F0502020204030204" pitchFamily="34" charset="0"/>
              </a:rPr>
              <a:t>Ich nutzte Claude und ChatGPT ausschließlich dialogisch. Die Modelle erzeugten umfangreiche Code- und Textvorschläge. Ich gab Ziele vor, wählte aus, testete, prüfte und dokumentiere die verbleibenden Unsicherheiten.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BB00534-181E-0789-62AF-62F7A63F7C8C}"/>
              </a:ext>
            </a:extLst>
          </p:cNvPr>
          <p:cNvSpPr txBox="1"/>
          <p:nvPr/>
        </p:nvSpPr>
        <p:spPr>
          <a:xfrm>
            <a:off x="685800" y="5613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500"/>
              </a:spcAft>
            </a:pPr>
            <a:r>
              <a:rPr lang="de-DE" sz="1500" b="1">
                <a:solidFill>
                  <a:srgbClr val="F8FAFC"/>
                </a:solidFill>
                <a:latin typeface="Calibri" panose="020F0502020204030204" pitchFamily="34" charset="0"/>
              </a:rPr>
              <a:t>Nächster Schritt: Hauptläufe → verblindete Bewertung → vollständige Veröffentlichung auch von Null- oder Negativbefunden</a:t>
            </a:r>
          </a:p>
        </p:txBody>
      </p:sp>
    </p:spTree>
    <p:extLst>
      <p:ext uri="{BB962C8B-B14F-4D97-AF65-F5344CB8AC3E}">
        <p14:creationId xmlns:p14="http://schemas.microsoft.com/office/powerpoint/2010/main" val="2409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Benutzerdefiniert</PresentationFormat>
  <Paragraphs>125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Schoolbook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Sinan Adigüzel</dc:creator>
  <cp:lastModifiedBy>Sinan Adigüzel</cp:lastModifiedBy>
  <cp:revision>1</cp:revision>
  <dcterms:created xsi:type="dcterms:W3CDTF">2026-07-09T19:39:24Z</dcterms:created>
  <dcterms:modified xsi:type="dcterms:W3CDTF">2026-07-09T19:39:24Z</dcterms:modified>
</cp:coreProperties>
</file>