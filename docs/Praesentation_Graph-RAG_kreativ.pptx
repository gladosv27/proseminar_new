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B32C4-3DBE-631D-ED3D-8181DE89B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AF4420-8729-D146-E849-DE95E51DA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1D9052-398B-0396-8B5F-5FBBEFBE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B6CF52-4316-045E-F5FF-20B15BD8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611458-1F8B-43C3-0CAA-A3E1F983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396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983D5-0200-30AE-DB18-733FB7B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8EB8E3-FAD5-5620-33A5-2EA737B7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F608BA-FE72-A237-62CF-4CD335AB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BF1E1-C7BE-7033-FDCC-37E5E480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5D3B9-0F71-9425-0081-9D700166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12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A2FE5-9F9B-BE99-6C1E-D168A8EF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399C57-D4F9-64DA-BD5D-89D2F5794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E84555-4995-EBEB-757A-3F045BBC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48AAC9-7E9F-0909-5A79-39433919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B0E634-E6AB-0BD1-7A37-895ACDFA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74094-3923-D7BB-9395-6F323E68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6EC115-519D-33E5-AC1B-26734A0FE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F24182-B19A-4701-5597-44ACB7469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78FC32-DFF9-E77E-D9D6-B017DDE8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53891C-335A-72C9-40F8-4B009C1A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4F23D6-358D-57DD-4D26-3F4F2DBF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52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6D862-C8BB-BD1A-D64E-9537EA41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131DA3-7F2C-3514-37AC-60D9D0FD1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B3FD1-D124-6939-D785-8C9490B0F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8193D3A-0750-7794-9321-30E90B92A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225718-D79D-3142-4EAD-086ACFF6C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31BA277-0EA9-E03A-72C7-3E35DEC1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01B183-4DFE-1F37-A585-8EBE24AD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71B79B-E67E-6463-C5F4-2922D3C9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101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8918B-D1E8-B9CB-261D-8963CE73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17147C-5796-8032-D2E8-0EA11556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FA34E5-D12E-1B08-5C7E-144553A2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216DF3-4AA0-F80B-C9EE-CE82BE50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893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DE43DC-DB3C-9374-AEDA-A1D11659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F920C6-8DE1-4D7C-94D7-2E5D6432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999E86-59D9-6637-2175-3E422EA6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46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084B2-DB08-A866-9295-8A7EB389C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3C3BA0-448F-35ED-43FE-6AD0545D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4940D9-55E9-90F5-11B7-4247CDF1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D9D14A-95E4-50C6-B5B0-FF118ECB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971ADE-B8FE-266D-C8B7-C943A9ED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4986F6-08C2-F0D1-F50A-DD1B21C2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33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3941A-1B55-0628-30C7-D9EB5D9B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82D558F-6009-5D88-BEFB-5ED05EBC1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0D9213-2F26-2D39-578E-67E31869F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005BCE-3434-3E80-72C4-35D77B93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55BF21-6F6A-FFE7-33A2-FE54BC7D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4184AF-A1B2-DF57-F4B2-5C43FA8E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87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67760-1728-C490-104E-D0977965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984CAA-F718-1E8E-75B4-7D14F65F9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27C65-9EB4-9B72-4BB4-4570B0EB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292F8-3D4A-DE6C-4428-9A25D33A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25E981-CBFD-E58E-30AD-730DA724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54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14AABE-C0E2-7DCA-68F3-2C89B5A50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84EC57-17CF-059D-B54D-D99D94C71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F55FA7-7DB5-C0BA-3587-8184B886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B86A25-3EE6-F84F-8B93-549B5941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F08F73-9D8B-1449-24CD-E625B4AC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88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4DD330F-9E72-2D4D-3DE5-47F92498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F17BF4-0D0C-22DF-7661-85B92BD36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FBEBE-7EE5-C03F-DFEC-9D0BD0987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2F456-F607-4124-BBB6-EBFAC5040AD0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BAB33A-1B46-220F-771A-082A244D1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854A8D-5C25-7462-73F8-2D9A82C5C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7C53F-A91D-47C0-85E0-6F37363F36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C5B4A1-4669-C05C-8337-E8C3BA5BAD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200A947-B45B-9691-79D7-AD7FD6D61529}"/>
              </a:ext>
            </a:extLst>
          </p:cNvPr>
          <p:cNvSpPr/>
          <p:nvPr/>
        </p:nvSpPr>
        <p:spPr>
          <a:xfrm>
            <a:off x="0" y="0"/>
            <a:ext cx="7188200" cy="6858000"/>
          </a:xfrm>
          <a:prstGeom prst="rect">
            <a:avLst/>
          </a:prstGeom>
          <a:solidFill>
            <a:srgbClr val="0B1F2E">
              <a:alpha val="90000"/>
            </a:srgbClr>
          </a:solidFill>
          <a:ln w="9525">
            <a:solidFill>
              <a:srgbClr val="0B1F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7AA64D-2337-D8BC-8302-1F2A943E0F4A}"/>
              </a:ext>
            </a:extLst>
          </p:cNvPr>
          <p:cNvSpPr txBox="1"/>
          <p:nvPr/>
        </p:nvSpPr>
        <p:spPr>
          <a:xfrm>
            <a:off x="787400" y="660400"/>
            <a:ext cx="393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PROSEMINAR ·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5EE87D-594C-D197-4DB1-12166536BB64}"/>
              </a:ext>
            </a:extLst>
          </p:cNvPr>
          <p:cNvSpPr txBox="1"/>
          <p:nvPr/>
        </p:nvSpPr>
        <p:spPr>
          <a:xfrm>
            <a:off x="787400" y="1676400"/>
            <a:ext cx="6223000" cy="24006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5200" b="1">
                <a:solidFill>
                  <a:srgbClr val="F8FAFC"/>
                </a:solidFill>
                <a:latin typeface="Century Schoolbook" panose="02040604050505020304" pitchFamily="18" charset="0"/>
              </a:rPr>
              <a:t>Graph-RAG
auf dem Smartphone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D1BB7D-1532-12E2-9041-7FC3965B5A8F}"/>
              </a:ext>
            </a:extLst>
          </p:cNvPr>
          <p:cNvSpPr txBox="1"/>
          <p:nvPr/>
        </p:nvSpPr>
        <p:spPr>
          <a:xfrm>
            <a:off x="812800" y="4394200"/>
            <a:ext cx="53086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>
                <a:solidFill>
                  <a:srgbClr val="CBD5E1"/>
                </a:solidFill>
                <a:latin typeface="Calibri" panose="020F0502020204030204" pitchFamily="34" charset="0"/>
              </a:rPr>
              <a:t>Hilft explizite Struktur kleinen lokalen Sprachmodellen bei Multi-Hop-Fragen?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4631A6-E5BC-A106-9030-2C09CAFBF998}"/>
              </a:ext>
            </a:extLst>
          </p:cNvPr>
          <p:cNvSpPr/>
          <p:nvPr/>
        </p:nvSpPr>
        <p:spPr>
          <a:xfrm>
            <a:off x="812800" y="5334000"/>
            <a:ext cx="11176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633351E-8323-E744-1B16-6128F7BA4BFD}"/>
              </a:ext>
            </a:extLst>
          </p:cNvPr>
          <p:cNvSpPr txBox="1"/>
          <p:nvPr/>
        </p:nvSpPr>
        <p:spPr>
          <a:xfrm>
            <a:off x="812800" y="5765800"/>
            <a:ext cx="457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94A3B8"/>
                </a:solidFill>
                <a:latin typeface="Calibri" panose="020F0502020204030204" pitchFamily="34" charset="0"/>
              </a:rPr>
              <a:t>Sinan Yavuz Adigüzel · TU Dortmund</a:t>
            </a:r>
          </a:p>
        </p:txBody>
      </p:sp>
    </p:spTree>
    <p:extLst>
      <p:ext uri="{BB962C8B-B14F-4D97-AF65-F5344CB8AC3E}">
        <p14:creationId xmlns:p14="http://schemas.microsoft.com/office/powerpoint/2010/main" val="273640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CE739D4-ADE4-92CB-82E1-9B3255646A83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AUSGANGSPUNKT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08E0600-A2AF-0530-1378-BACC06E8C4A1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Lokale KI schützt Daten – aber weiß nicht alles.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F4DD05D-703F-B7FC-AAC6-EB53B4AA0879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50933D-EEFE-2AF0-82AD-5AD239AC9C45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6A2A62E-F296-A344-EC38-128EABE5515B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263E84-4932-72C1-996A-1FFE4EF57F60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A34384-3271-DD8F-BD3D-AE1D02BA1762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Privat heisst nicht allwissend.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036A12B-4E8A-19B5-8590-D193C4D21B04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24C29FF-2E10-7DC2-7487-E696C08056BA}"/>
              </a:ext>
            </a:extLst>
          </p:cNvPr>
          <p:cNvSpPr txBox="1"/>
          <p:nvPr/>
        </p:nvSpPr>
        <p:spPr>
          <a:xfrm>
            <a:off x="736600" y="2336800"/>
            <a:ext cx="4508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4600" b="1">
                <a:solidFill>
                  <a:srgbClr val="5EEAD4"/>
                </a:solidFill>
                <a:latin typeface="Century Schoolbook" panose="02040604050505020304" pitchFamily="18" charset="0"/>
              </a:rPr>
              <a:t>PRIVAT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0F910DB-4493-9C24-7CC1-32ADDBF1515C}"/>
              </a:ext>
            </a:extLst>
          </p:cNvPr>
          <p:cNvSpPr txBox="1"/>
          <p:nvPr/>
        </p:nvSpPr>
        <p:spPr>
          <a:xfrm>
            <a:off x="736600" y="31750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100">
                <a:solidFill>
                  <a:srgbClr val="CBD5E1"/>
                </a:solidFill>
                <a:latin typeface="Calibri" panose="020F0502020204030204" pitchFamily="34" charset="0"/>
              </a:rPr>
              <a:t>klein · lokal · nach dem Download offline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49F2F22-984D-4273-193A-AA282427AF36}"/>
              </a:ext>
            </a:extLst>
          </p:cNvPr>
          <p:cNvSpPr txBox="1"/>
          <p:nvPr/>
        </p:nvSpPr>
        <p:spPr>
          <a:xfrm>
            <a:off x="6794500" y="2336800"/>
            <a:ext cx="4508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4200" b="1">
                <a:solidFill>
                  <a:srgbClr val="FBBF24"/>
                </a:solidFill>
                <a:latin typeface="Century Schoolbook" panose="02040604050505020304" pitchFamily="18" charset="0"/>
              </a:rPr>
              <a:t>LÜCKENHAFT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52A7EE1-3336-0B3E-6FA5-1C5AFC9FA026}"/>
              </a:ext>
            </a:extLst>
          </p:cNvPr>
          <p:cNvSpPr txBox="1"/>
          <p:nvPr/>
        </p:nvSpPr>
        <p:spPr>
          <a:xfrm>
            <a:off x="6794500" y="3175000"/>
            <a:ext cx="45085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100">
                <a:solidFill>
                  <a:srgbClr val="CBD5E1"/>
                </a:solidFill>
                <a:latin typeface="Calibri" panose="020F0502020204030204" pitchFamily="34" charset="0"/>
              </a:rPr>
              <a:t>Faktenwissen fehlt. Antworten können plausibel klingen und dennoch falsch sein.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06DE34C-3435-E160-D246-0B8B90CD8FCE}"/>
              </a:ext>
            </a:extLst>
          </p:cNvPr>
          <p:cNvCxnSpPr/>
          <p:nvPr/>
        </p:nvCxnSpPr>
        <p:spPr>
          <a:xfrm>
            <a:off x="6096000" y="2349500"/>
            <a:ext cx="0" cy="2222500"/>
          </a:xfrm>
          <a:prstGeom prst="straightConnector1">
            <a:avLst/>
          </a:prstGeom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F27FAC21-4417-D83F-39D5-E006CEFEDB96}"/>
              </a:ext>
            </a:extLst>
          </p:cNvPr>
          <p:cNvSpPr txBox="1"/>
          <p:nvPr/>
        </p:nvSpPr>
        <p:spPr>
          <a:xfrm>
            <a:off x="2362200" y="5232400"/>
            <a:ext cx="7493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Die zentrale Frage lautet deshalb nicht: Wie groß ist das Modell? Sondern: Welches Wissen erhält es im richtigen Moment?</a:t>
            </a:r>
          </a:p>
        </p:txBody>
      </p:sp>
    </p:spTree>
    <p:extLst>
      <p:ext uri="{BB962C8B-B14F-4D97-AF65-F5344CB8AC3E}">
        <p14:creationId xmlns:p14="http://schemas.microsoft.com/office/powerpoint/2010/main" val="72172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C185685-0D89-1DBE-621F-00B212DD827F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THEORIE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849392-AB01-4EE3-624E-58DF3D3A3871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RAG ergänzt das Gedächtnis des Modells zur Laufzeit.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D860A8-0A96-52EA-3B18-F2B4D80BE374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4FEB32-CE56-30A6-E566-D3744DC2DAA3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36E1DB9-50DA-D958-D862-ACE10C757C0F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C18043E-B7E1-357C-ECCE-D7055C00E73D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F3AD8A-4AD8-A1D5-D975-8152B8AEAB73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RAG erweitert Modellwissen.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F3AC918-4C1F-B0D0-8401-E3E19A81745C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95C3B80-2636-D89D-D9E5-994909670619}"/>
              </a:ext>
            </a:extLst>
          </p:cNvPr>
          <p:cNvSpPr txBox="1"/>
          <p:nvPr/>
        </p:nvSpPr>
        <p:spPr>
          <a:xfrm>
            <a:off x="1092200" y="24511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60A5FA"/>
                </a:solidFill>
                <a:latin typeface="Calibri" panose="020F0502020204030204" pitchFamily="34" charset="0"/>
              </a:rPr>
              <a:t>PARAMETRISCHES WISSEN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3B32552-A205-B11A-8DE4-4984F75711C7}"/>
              </a:ext>
            </a:extLst>
          </p:cNvPr>
          <p:cNvSpPr txBox="1"/>
          <p:nvPr/>
        </p:nvSpPr>
        <p:spPr>
          <a:xfrm>
            <a:off x="1092200" y="3098800"/>
            <a:ext cx="2921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300" b="1">
                <a:solidFill>
                  <a:srgbClr val="F8FAFC"/>
                </a:solidFill>
                <a:latin typeface="Century Schoolbook" panose="02040604050505020304" pitchFamily="18" charset="0"/>
              </a:rPr>
              <a:t>Was das Modell bereits in seinen Gewichten gelernt hat.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81CC89C-5C4D-C662-3840-4531006AC758}"/>
              </a:ext>
            </a:extLst>
          </p:cNvPr>
          <p:cNvCxnSpPr/>
          <p:nvPr/>
        </p:nvCxnSpPr>
        <p:spPr>
          <a:xfrm>
            <a:off x="4775200" y="3581400"/>
            <a:ext cx="19304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30E90A8D-842A-1920-8310-FCD5FC78AFD1}"/>
              </a:ext>
            </a:extLst>
          </p:cNvPr>
          <p:cNvSpPr txBox="1"/>
          <p:nvPr/>
        </p:nvSpPr>
        <p:spPr>
          <a:xfrm>
            <a:off x="4927600" y="3022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5EEAD4"/>
                </a:solidFill>
                <a:latin typeface="Calibri" panose="020F0502020204030204" pitchFamily="34" charset="0"/>
              </a:rPr>
              <a:t>+ Kontext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E9E87E5-A5FF-C2B3-0166-0EF5D6E5DC0D}"/>
              </a:ext>
            </a:extLst>
          </p:cNvPr>
          <p:cNvSpPr txBox="1"/>
          <p:nvPr/>
        </p:nvSpPr>
        <p:spPr>
          <a:xfrm>
            <a:off x="7747000" y="2451100"/>
            <a:ext cx="292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FBBF24"/>
                </a:solidFill>
                <a:latin typeface="Calibri" panose="020F0502020204030204" pitchFamily="34" charset="0"/>
              </a:rPr>
              <a:t>RETRIEVAL-AUGMENTED GENERATION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34873E1-D4DF-BFA4-0E36-F68C57041795}"/>
              </a:ext>
            </a:extLst>
          </p:cNvPr>
          <p:cNvSpPr txBox="1"/>
          <p:nvPr/>
        </p:nvSpPr>
        <p:spPr>
          <a:xfrm>
            <a:off x="7747000" y="3098800"/>
            <a:ext cx="2997200" cy="21236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300" b="1">
                <a:solidFill>
                  <a:srgbClr val="F8FAFC"/>
                </a:solidFill>
                <a:latin typeface="Century Schoolbook" panose="02040604050505020304" pitchFamily="18" charset="0"/>
              </a:rPr>
              <a:t>Relevantes, überprüfbares Wissen wird für eine konkrete Frage bereitgestellt.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2B63BAB-4CEF-3894-7F80-DD9B3D099DB1}"/>
              </a:ext>
            </a:extLst>
          </p:cNvPr>
          <p:cNvSpPr txBox="1"/>
          <p:nvPr/>
        </p:nvSpPr>
        <p:spPr>
          <a:xfrm>
            <a:off x="2108200" y="5511800"/>
            <a:ext cx="7975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Meine Arbeit prüft, ob die Form dieses Kontexts bei mehrstufigen Fragen einen Unterschied macht.</a:t>
            </a:r>
          </a:p>
        </p:txBody>
      </p:sp>
    </p:spTree>
    <p:extLst>
      <p:ext uri="{BB962C8B-B14F-4D97-AF65-F5344CB8AC3E}">
        <p14:creationId xmlns:p14="http://schemas.microsoft.com/office/powerpoint/2010/main" val="48326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A261115-5C76-3B3C-C3AA-34A5484E516B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THEORIE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DF6A2CE-02D2-10C1-BD0F-4460E92D9CF1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Graph-RAG macht Beziehungen sichtbar.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59CC5A2-A47A-AB5A-8E11-89520F949CDD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C10B56B-DC9D-3C6E-46B6-3E1B05EC6AC2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402F19C-774B-AB40-E641-79BB5A6D1DE4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A8E4454-581C-04DA-113E-510A58BF6BFB}"/>
              </a:ext>
            </a:extLst>
          </p:cNvPr>
          <p:cNvSpPr txBox="1"/>
          <p:nvPr/>
        </p:nvSpPr>
        <p:spPr>
          <a:xfrm>
            <a:off x="990600" y="2336800"/>
            <a:ext cx="342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200" b="1">
                <a:solidFill>
                  <a:srgbClr val="60A5FA"/>
                </a:solidFill>
                <a:latin typeface="Calibri" panose="020F0502020204030204" pitchFamily="34" charset="0"/>
              </a:rPr>
              <a:t>Vektor-RAG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B4E130A-0001-6A3D-CE8D-DC9FA552E7BC}"/>
              </a:ext>
            </a:extLst>
          </p:cNvPr>
          <p:cNvSpPr txBox="1"/>
          <p:nvPr/>
        </p:nvSpPr>
        <p:spPr>
          <a:xfrm>
            <a:off x="990600" y="2806700"/>
            <a:ext cx="36322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300">
                <a:solidFill>
                  <a:srgbClr val="CBD5E1"/>
                </a:solidFill>
                <a:latin typeface="Calibri" panose="020F0502020204030204" pitchFamily="34" charset="0"/>
              </a:rPr>
              <a:t>[Hegel]
[Berlin]
[Schelling]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9F911A5-F0CA-6953-A94B-29B9D2461D31}"/>
              </a:ext>
            </a:extLst>
          </p:cNvPr>
          <p:cNvSpPr txBox="1"/>
          <p:nvPr/>
        </p:nvSpPr>
        <p:spPr>
          <a:xfrm>
            <a:off x="990600" y="4445000"/>
            <a:ext cx="342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>
                <a:solidFill>
                  <a:srgbClr val="94A3B8"/>
                </a:solidFill>
                <a:latin typeface="Calibri" panose="020F0502020204030204" pitchFamily="34" charset="0"/>
              </a:rPr>
              <a:t>relevante Schnipsel – aber getrennt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ABDAE7A-E1B0-237B-AE49-01056DD0361A}"/>
              </a:ext>
            </a:extLst>
          </p:cNvPr>
          <p:cNvCxnSpPr/>
          <p:nvPr/>
        </p:nvCxnSpPr>
        <p:spPr>
          <a:xfrm>
            <a:off x="5511800" y="3175000"/>
            <a:ext cx="1028700" cy="0"/>
          </a:xfrm>
          <a:prstGeom prst="straightConnector1">
            <a:avLst/>
          </a:prstGeom>
          <a:ln w="2540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C3CA4C-01C4-BD4B-1956-FB4C6985DEEB}"/>
              </a:ext>
            </a:extLst>
          </p:cNvPr>
          <p:cNvSpPr txBox="1"/>
          <p:nvPr/>
        </p:nvSpPr>
        <p:spPr>
          <a:xfrm>
            <a:off x="7429500" y="23368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200" b="1">
                <a:solidFill>
                  <a:srgbClr val="5EEAD4"/>
                </a:solidFill>
                <a:latin typeface="Calibri" panose="020F0502020204030204" pitchFamily="34" charset="0"/>
              </a:rPr>
              <a:t>Graph-RAG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4361E8F-0EE6-05DA-DF12-70D76955A0DD}"/>
              </a:ext>
            </a:extLst>
          </p:cNvPr>
          <p:cNvCxnSpPr/>
          <p:nvPr/>
        </p:nvCxnSpPr>
        <p:spPr>
          <a:xfrm>
            <a:off x="7848600" y="3429000"/>
            <a:ext cx="9144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722A5C9-BDD9-3BA1-B49E-9C1946D13836}"/>
              </a:ext>
            </a:extLst>
          </p:cNvPr>
          <p:cNvCxnSpPr/>
          <p:nvPr/>
        </p:nvCxnSpPr>
        <p:spPr>
          <a:xfrm>
            <a:off x="9169400" y="3429000"/>
            <a:ext cx="9144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51C67017-625C-19EE-4915-31B156A1DF8F}"/>
              </a:ext>
            </a:extLst>
          </p:cNvPr>
          <p:cNvSpPr/>
          <p:nvPr/>
        </p:nvSpPr>
        <p:spPr>
          <a:xfrm>
            <a:off x="7442200" y="3149600"/>
            <a:ext cx="533400" cy="533400"/>
          </a:xfrm>
          <a:prstGeom prst="ellipse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9B8D67-AE4B-10A8-8D4E-D1A31301419E}"/>
              </a:ext>
            </a:extLst>
          </p:cNvPr>
          <p:cNvSpPr/>
          <p:nvPr/>
        </p:nvSpPr>
        <p:spPr>
          <a:xfrm>
            <a:off x="8763000" y="3149600"/>
            <a:ext cx="533400" cy="5334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E00206-9610-9226-2844-98BE61569B9E}"/>
              </a:ext>
            </a:extLst>
          </p:cNvPr>
          <p:cNvSpPr/>
          <p:nvPr/>
        </p:nvSpPr>
        <p:spPr>
          <a:xfrm>
            <a:off x="10083800" y="3149600"/>
            <a:ext cx="533400" cy="533400"/>
          </a:xfrm>
          <a:prstGeom prst="ellipse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8AF3984-D99F-94B8-FEC1-F4DD5D906CAC}"/>
              </a:ext>
            </a:extLst>
          </p:cNvPr>
          <p:cNvSpPr txBox="1"/>
          <p:nvPr/>
        </p:nvSpPr>
        <p:spPr>
          <a:xfrm>
            <a:off x="7226300" y="3860800"/>
            <a:ext cx="96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 b="1">
                <a:solidFill>
                  <a:srgbClr val="F8FAFC"/>
                </a:solidFill>
                <a:latin typeface="Calibri" panose="020F0502020204030204" pitchFamily="34" charset="0"/>
              </a:rPr>
              <a:t>Hegel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77C8CF3-B7BA-6540-0AFB-2C0DB883B682}"/>
              </a:ext>
            </a:extLst>
          </p:cNvPr>
          <p:cNvSpPr txBox="1"/>
          <p:nvPr/>
        </p:nvSpPr>
        <p:spPr>
          <a:xfrm>
            <a:off x="8509000" y="3860800"/>
            <a:ext cx="1041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 b="1">
                <a:solidFill>
                  <a:srgbClr val="F8FAFC"/>
                </a:solidFill>
                <a:latin typeface="Calibri" panose="020F0502020204030204" pitchFamily="34" charset="0"/>
              </a:rPr>
              <a:t>Schelling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4746777-F102-140C-3A7A-118EF59A3B04}"/>
              </a:ext>
            </a:extLst>
          </p:cNvPr>
          <p:cNvSpPr txBox="1"/>
          <p:nvPr/>
        </p:nvSpPr>
        <p:spPr>
          <a:xfrm>
            <a:off x="9804400" y="38608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00" b="1">
                <a:solidFill>
                  <a:srgbClr val="F8FAFC"/>
                </a:solidFill>
                <a:latin typeface="Calibri" panose="020F0502020204030204" pitchFamily="34" charset="0"/>
              </a:rPr>
              <a:t>Kierkegaard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ABCC35E-7BF1-DA0D-5C45-C3C0F78A746D}"/>
              </a:ext>
            </a:extLst>
          </p:cNvPr>
          <p:cNvSpPr txBox="1"/>
          <p:nvPr/>
        </p:nvSpPr>
        <p:spPr>
          <a:xfrm>
            <a:off x="6959600" y="46228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00">
                <a:solidFill>
                  <a:srgbClr val="CBD5E1"/>
                </a:solidFill>
                <a:latin typeface="Calibri" panose="020F0502020204030204" pitchFamily="34" charset="0"/>
              </a:rPr>
              <a:t>Die Kette bleibt im Kontext sichtbar.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3942241-6CB3-065A-604F-E361A5682DE9}"/>
              </a:ext>
            </a:extLst>
          </p:cNvPr>
          <p:cNvSpPr txBox="1"/>
          <p:nvPr/>
        </p:nvSpPr>
        <p:spPr>
          <a:xfrm>
            <a:off x="1905000" y="5626100"/>
            <a:ext cx="838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Das ist die Multi-Hop-Hypothese: Nicht mehr Text allein, sondern besser verbundene Evidenz.</a:t>
            </a:r>
          </a:p>
        </p:txBody>
      </p:sp>
    </p:spTree>
    <p:extLst>
      <p:ext uri="{BB962C8B-B14F-4D97-AF65-F5344CB8AC3E}">
        <p14:creationId xmlns:p14="http://schemas.microsoft.com/office/powerpoint/2010/main" val="94282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80544E-6957-4C2E-DFE9-C1554F62123E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FORSCHUNGSFRAGE UND HYPOTHESEN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53D6F5E-5D75-49C6-0E8C-EC5F4A8BE3E6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Wann lohnt sich ein Wissensgraph?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7C8876-2D00-3D0A-BF9F-0EE8676B95F3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7CAF4A4-9206-2E47-EE52-BEE6AD9E0A2C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B39B874-E0BC-C5FF-E130-211A237B25CB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05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38A994-3539-348E-C0F2-BF2288051C98}"/>
              </a:ext>
            </a:extLst>
          </p:cNvPr>
          <p:cNvSpPr txBox="1"/>
          <p:nvPr/>
        </p:nvSpPr>
        <p:spPr>
          <a:xfrm>
            <a:off x="1600200" y="2311400"/>
            <a:ext cx="89916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2400" b="1">
                <a:solidFill>
                  <a:srgbClr val="F8FAFC"/>
                </a:solidFill>
                <a:latin typeface="Calibri" panose="020F0502020204030204" pitchFamily="34" charset="0"/>
              </a:rPr>
              <a:t>Verbessert Graph-RAG auf einem kuratierten, typisierten Wissensgraphen die Antwortqualität kleiner On-Device-LLMs gegenüber Vektor-RAG und einer kontextfreien Baseline?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274C2A0-7CE7-07D1-C6CA-84C44EFD139E}"/>
              </a:ext>
            </a:extLst>
          </p:cNvPr>
          <p:cNvSpPr/>
          <p:nvPr/>
        </p:nvSpPr>
        <p:spPr>
          <a:xfrm>
            <a:off x="2235200" y="3873500"/>
            <a:ext cx="7696200" cy="254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8CAB5E-7F2E-7D8E-51A4-1F0A6E66A1A3}"/>
              </a:ext>
            </a:extLst>
          </p:cNvPr>
          <p:cNvSpPr txBox="1"/>
          <p:nvPr/>
        </p:nvSpPr>
        <p:spPr>
          <a:xfrm>
            <a:off x="1981200" y="4267200"/>
            <a:ext cx="8229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H1  RAG schlägt die Baseline · H2  bei einfachen Fragen annähernd gleich · H3  Graph-RAG profitiert bei 2–3 Hops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6B5239-FC44-B0EC-031E-D3DA78C3BC69}"/>
              </a:ext>
            </a:extLst>
          </p:cNvPr>
          <p:cNvSpPr txBox="1"/>
          <p:nvPr/>
        </p:nvSpPr>
        <p:spPr>
          <a:xfrm>
            <a:off x="2895600" y="4953000"/>
            <a:ext cx="64008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H4  bessere Enthaltung möglich · H5  mehr Kontext und höhere End-to-End-Kosten erwartet</a:t>
            </a:r>
          </a:p>
        </p:txBody>
      </p:sp>
    </p:spTree>
    <p:extLst>
      <p:ext uri="{BB962C8B-B14F-4D97-AF65-F5344CB8AC3E}">
        <p14:creationId xmlns:p14="http://schemas.microsoft.com/office/powerpoint/2010/main" val="147136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95A42B7-8C7B-5739-55F2-059A18E38977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MODELLIERUNG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80E6705-9033-33EA-4F01-0A55FDC3AEB5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Ein kleines, kontrolliertes Wissensuniversum.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83EF58-4A6A-AFA6-3E84-FCEA55E1A19B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85425D-5973-629A-4926-DD5A63517177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6EA3CDD-2295-9A25-1134-B65B4433F774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06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453EA1-BAEB-477B-B8A6-50D06E62B332}"/>
              </a:ext>
            </a:extLst>
          </p:cNvPr>
          <p:cNvSpPr txBox="1"/>
          <p:nvPr/>
        </p:nvSpPr>
        <p:spPr>
          <a:xfrm>
            <a:off x="863600" y="2286000"/>
            <a:ext cx="2603500" cy="11387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700" b="1">
                <a:solidFill>
                  <a:srgbClr val="F8FAFC"/>
                </a:solidFill>
                <a:latin typeface="Century Schoolbook" panose="02040604050505020304" pitchFamily="18" charset="0"/>
              </a:rPr>
              <a:t>75`nKnoten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BD3C26-4ADD-7F77-3BAD-FA21D2986FFC}"/>
              </a:ext>
            </a:extLst>
          </p:cNvPr>
          <p:cNvSpPr txBox="1"/>
          <p:nvPr/>
        </p:nvSpPr>
        <p:spPr>
          <a:xfrm>
            <a:off x="863600" y="36322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>
                <a:solidFill>
                  <a:srgbClr val="94A3B8"/>
                </a:solidFill>
                <a:latin typeface="Calibri" panose="020F0502020204030204" pitchFamily="34" charset="0"/>
              </a:rPr>
              <a:t>165 typisierte Beziehungen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C5CE873-E9E3-74F8-EE1F-10966E0B6782}"/>
              </a:ext>
            </a:extLst>
          </p:cNvPr>
          <p:cNvSpPr/>
          <p:nvPr/>
        </p:nvSpPr>
        <p:spPr>
          <a:xfrm>
            <a:off x="736600" y="2159000"/>
            <a:ext cx="2984500" cy="2082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7E8019-8F37-A226-CED4-944EEBEF9722}"/>
              </a:ext>
            </a:extLst>
          </p:cNvPr>
          <p:cNvSpPr txBox="1"/>
          <p:nvPr/>
        </p:nvSpPr>
        <p:spPr>
          <a:xfrm>
            <a:off x="863600" y="2286000"/>
            <a:ext cx="2603500" cy="5693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700" b="1">
                <a:solidFill>
                  <a:srgbClr val="F8FAFC"/>
                </a:solidFill>
                <a:latin typeface="Century Schoolbook" panose="02040604050505020304" pitchFamily="18" charset="0"/>
              </a:rPr>
              <a:t>75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CF9EBAD-A10A-BFE8-858F-B95644283294}"/>
              </a:ext>
            </a:extLst>
          </p:cNvPr>
          <p:cNvSpPr txBox="1"/>
          <p:nvPr/>
        </p:nvSpPr>
        <p:spPr>
          <a:xfrm>
            <a:off x="863600" y="2921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Knoten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CF646B5-F32C-1477-CDEE-F8E794F19D9B}"/>
              </a:ext>
            </a:extLst>
          </p:cNvPr>
          <p:cNvSpPr txBox="1"/>
          <p:nvPr/>
        </p:nvSpPr>
        <p:spPr>
          <a:xfrm>
            <a:off x="863600" y="36322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>
                <a:solidFill>
                  <a:srgbClr val="94A3B8"/>
                </a:solidFill>
                <a:latin typeface="Calibri" panose="020F0502020204030204" pitchFamily="34" charset="0"/>
              </a:rPr>
              <a:t>165 typisierte Beziehungen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64CD5A7-5638-2E22-C9AB-0CC695DFA6B0}"/>
              </a:ext>
            </a:extLst>
          </p:cNvPr>
          <p:cNvCxnSpPr/>
          <p:nvPr/>
        </p:nvCxnSpPr>
        <p:spPr>
          <a:xfrm>
            <a:off x="4013200" y="2311400"/>
            <a:ext cx="0" cy="2743200"/>
          </a:xfrm>
          <a:prstGeom prst="straightConnector1">
            <a:avLst/>
          </a:prstGeom>
          <a:ln w="12700">
            <a:solidFill>
              <a:srgbClr val="0F2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D282598-E1FA-06E8-30CB-F838F2847FC6}"/>
              </a:ext>
            </a:extLst>
          </p:cNvPr>
          <p:cNvSpPr txBox="1"/>
          <p:nvPr/>
        </p:nvSpPr>
        <p:spPr>
          <a:xfrm>
            <a:off x="4521200" y="2286000"/>
            <a:ext cx="2540000" cy="11387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700" b="1">
                <a:solidFill>
                  <a:srgbClr val="F8FAFC"/>
                </a:solidFill>
                <a:latin typeface="Century Schoolbook" panose="02040604050505020304" pitchFamily="18" charset="0"/>
              </a:rPr>
              <a:t>40`nFragen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264F1D4-7C6E-3D20-698D-59E48A364296}"/>
              </a:ext>
            </a:extLst>
          </p:cNvPr>
          <p:cNvSpPr txBox="1"/>
          <p:nvPr/>
        </p:nvSpPr>
        <p:spPr>
          <a:xfrm>
            <a:off x="4521200" y="3632200"/>
            <a:ext cx="327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>
                <a:solidFill>
                  <a:srgbClr val="94A3B8"/>
                </a:solidFill>
                <a:latin typeface="Calibri" panose="020F0502020204030204" pitchFamily="34" charset="0"/>
              </a:rPr>
              <a:t>10 Direkt · 14 Zwei-Hop · 8 Drei-Hop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69D0CB-28AB-A205-51F0-7936357A4CAB}"/>
              </a:ext>
            </a:extLst>
          </p:cNvPr>
          <p:cNvSpPr/>
          <p:nvPr/>
        </p:nvSpPr>
        <p:spPr>
          <a:xfrm>
            <a:off x="4394200" y="2159000"/>
            <a:ext cx="3492500" cy="2082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390138E-AA9D-137E-D790-2721A73BF096}"/>
              </a:ext>
            </a:extLst>
          </p:cNvPr>
          <p:cNvSpPr txBox="1"/>
          <p:nvPr/>
        </p:nvSpPr>
        <p:spPr>
          <a:xfrm>
            <a:off x="4521200" y="2286000"/>
            <a:ext cx="2540000" cy="5693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700" b="1">
                <a:solidFill>
                  <a:srgbClr val="F8FAFC"/>
                </a:solidFill>
                <a:latin typeface="Century Schoolbook" panose="02040604050505020304" pitchFamily="18" charset="0"/>
              </a:rPr>
              <a:t>40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F83E71B-D5A9-2429-18EE-04376D71BBCF}"/>
              </a:ext>
            </a:extLst>
          </p:cNvPr>
          <p:cNvSpPr txBox="1"/>
          <p:nvPr/>
        </p:nvSpPr>
        <p:spPr>
          <a:xfrm>
            <a:off x="4521200" y="2921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Fragen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F410FC8-3D7A-14FB-DC06-BE4C105214E3}"/>
              </a:ext>
            </a:extLst>
          </p:cNvPr>
          <p:cNvSpPr txBox="1"/>
          <p:nvPr/>
        </p:nvSpPr>
        <p:spPr>
          <a:xfrm>
            <a:off x="4521200" y="3632200"/>
            <a:ext cx="327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00">
                <a:solidFill>
                  <a:srgbClr val="94A3B8"/>
                </a:solidFill>
                <a:latin typeface="Calibri" panose="020F0502020204030204" pitchFamily="34" charset="0"/>
              </a:rPr>
              <a:t>10 Direkt · 14 Zwei-Hop · 8 Drei-Hop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8D1AA7A-C275-1617-9F0B-9E697B9B4B1F}"/>
              </a:ext>
            </a:extLst>
          </p:cNvPr>
          <p:cNvCxnSpPr/>
          <p:nvPr/>
        </p:nvCxnSpPr>
        <p:spPr>
          <a:xfrm>
            <a:off x="8153400" y="2311400"/>
            <a:ext cx="0" cy="2743200"/>
          </a:xfrm>
          <a:prstGeom prst="straightConnector1">
            <a:avLst/>
          </a:prstGeom>
          <a:ln w="12700">
            <a:solidFill>
              <a:srgbClr val="0F2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454A8891-5840-4EE9-54F9-B014E12EDEC4}"/>
              </a:ext>
            </a:extLst>
          </p:cNvPr>
          <p:cNvSpPr txBox="1"/>
          <p:nvPr/>
        </p:nvSpPr>
        <p:spPr>
          <a:xfrm>
            <a:off x="8661400" y="2336800"/>
            <a:ext cx="241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5EEAD4"/>
                </a:solidFill>
                <a:latin typeface="Calibri" panose="020F0502020204030204" pitchFamily="34" charset="0"/>
              </a:rPr>
              <a:t>Kernvergleich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F55C99D-4580-B1FC-1E24-AB244BE8296F}"/>
              </a:ext>
            </a:extLst>
          </p:cNvPr>
          <p:cNvSpPr txBox="1"/>
          <p:nvPr/>
        </p:nvSpPr>
        <p:spPr>
          <a:xfrm>
            <a:off x="8661400" y="2971800"/>
            <a:ext cx="2413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>
                <a:solidFill>
                  <a:srgbClr val="CBD5E1"/>
                </a:solidFill>
                <a:latin typeface="Calibri" panose="020F0502020204030204" pitchFamily="34" charset="0"/>
              </a:rPr>
              <a:t>B0  kein Kontext
B1  Vektor-RAG
B2  Graph-RAG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2F0C816-4A54-5D81-F73D-1B370AE2220B}"/>
              </a:ext>
            </a:extLst>
          </p:cNvPr>
          <p:cNvSpPr txBox="1"/>
          <p:nvPr/>
        </p:nvSpPr>
        <p:spPr>
          <a:xfrm>
            <a:off x="1879600" y="5562600"/>
            <a:ext cx="843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Domäne: Deutscher Idealismus · Wikipedia-basierte Inhalte · manuell kuratierter und eingefrorener Messgraph</a:t>
            </a:r>
          </a:p>
        </p:txBody>
      </p:sp>
    </p:spTree>
    <p:extLst>
      <p:ext uri="{BB962C8B-B14F-4D97-AF65-F5344CB8AC3E}">
        <p14:creationId xmlns:p14="http://schemas.microsoft.com/office/powerpoint/2010/main" val="389019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8A324EA-ACA5-1DC9-D440-816C34E740C9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EXPERIMENT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6B76AD5-641D-1111-7ED7-0F35F792AFF5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Die Reihenfolge darf das Ergebnis nicht prägen.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0A3E458-13F9-B08D-A862-9744685F4562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A07716-A32F-0FC6-988C-E804721ED3A7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7BF1D3-9ECA-1231-5B34-F129819504A8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07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453CC7-7234-6AEA-C40C-40ACE799713B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21FE607-737B-7788-CB57-F8FBEBAA33F7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Reihenfolge darf nicht verzerren.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1D524E-306E-D9F1-46C0-A54DB3413830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06DF02C-660B-4439-BB25-C0C1EE910071}"/>
              </a:ext>
            </a:extLst>
          </p:cNvPr>
          <p:cNvSpPr/>
          <p:nvPr/>
        </p:nvSpPr>
        <p:spPr>
          <a:xfrm>
            <a:off x="635000" y="1905000"/>
            <a:ext cx="10795000" cy="16510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3C3D171-8873-EC3D-AF8A-34F5BA154216}"/>
              </a:ext>
            </a:extLst>
          </p:cNvPr>
          <p:cNvCxnSpPr/>
          <p:nvPr/>
        </p:nvCxnSpPr>
        <p:spPr>
          <a:xfrm>
            <a:off x="1778000" y="3835400"/>
            <a:ext cx="8636000" cy="0"/>
          </a:xfrm>
          <a:prstGeom prst="straightConnector1">
            <a:avLst/>
          </a:prstGeom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DA8378AD-334E-E7E3-E5E2-2CF81150D0C3}"/>
              </a:ext>
            </a:extLst>
          </p:cNvPr>
          <p:cNvSpPr/>
          <p:nvPr/>
        </p:nvSpPr>
        <p:spPr>
          <a:xfrm>
            <a:off x="1549400" y="3606800"/>
            <a:ext cx="457200" cy="4572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ADFB3E2-A09C-11D0-DBB1-776071505F2A}"/>
              </a:ext>
            </a:extLst>
          </p:cNvPr>
          <p:cNvSpPr txBox="1"/>
          <p:nvPr/>
        </p:nvSpPr>
        <p:spPr>
          <a:xfrm>
            <a:off x="863600" y="2768600"/>
            <a:ext cx="1828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Gleicher Prompt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4B8D370-436C-F280-66AF-C0B3BCF3FDA7}"/>
              </a:ext>
            </a:extLst>
          </p:cNvPr>
          <p:cNvSpPr txBox="1"/>
          <p:nvPr/>
        </p:nvSpPr>
        <p:spPr>
          <a:xfrm>
            <a:off x="635000" y="4292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50">
                <a:solidFill>
                  <a:srgbClr val="CBD5E1"/>
                </a:solidFill>
                <a:latin typeface="Calibri" panose="020F0502020204030204" pitchFamily="34" charset="0"/>
              </a:rPr>
              <a:t>Modell, Temperatur und Antwortlimit bleiben konstant.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B12DBB2-34CF-88F1-1054-59E9387913FE}"/>
              </a:ext>
            </a:extLst>
          </p:cNvPr>
          <p:cNvSpPr/>
          <p:nvPr/>
        </p:nvSpPr>
        <p:spPr>
          <a:xfrm>
            <a:off x="4406900" y="3606800"/>
            <a:ext cx="457200" cy="457200"/>
          </a:xfrm>
          <a:prstGeom prst="ellipse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3E03398-AEBA-D4C6-7C71-7705511FE8E4}"/>
              </a:ext>
            </a:extLst>
          </p:cNvPr>
          <p:cNvSpPr txBox="1"/>
          <p:nvPr/>
        </p:nvSpPr>
        <p:spPr>
          <a:xfrm>
            <a:off x="3721100" y="2768600"/>
            <a:ext cx="1828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Seed + Rotation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45D9A41-C632-9D18-05DE-FA001A5A584E}"/>
              </a:ext>
            </a:extLst>
          </p:cNvPr>
          <p:cNvSpPr txBox="1"/>
          <p:nvPr/>
        </p:nvSpPr>
        <p:spPr>
          <a:xfrm>
            <a:off x="3492500" y="4292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50">
                <a:solidFill>
                  <a:srgbClr val="CBD5E1"/>
                </a:solidFill>
                <a:latin typeface="Calibri" panose="020F0502020204030204" pitchFamily="34" charset="0"/>
              </a:rPr>
              <a:t>Fragen werden gemischt; Bedingungen rotieren zyklisch.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2F80169-EC2C-A8B4-4B80-D35DE96DB7B0}"/>
              </a:ext>
            </a:extLst>
          </p:cNvPr>
          <p:cNvSpPr/>
          <p:nvPr/>
        </p:nvSpPr>
        <p:spPr>
          <a:xfrm>
            <a:off x="7264400" y="3606800"/>
            <a:ext cx="457200" cy="457200"/>
          </a:xfrm>
          <a:prstGeom prst="ellipse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1C4D5F6-39D8-A714-8B41-847E66CA2F6A}"/>
              </a:ext>
            </a:extLst>
          </p:cNvPr>
          <p:cNvSpPr txBox="1"/>
          <p:nvPr/>
        </p:nvSpPr>
        <p:spPr>
          <a:xfrm>
            <a:off x="6578600" y="2768600"/>
            <a:ext cx="1828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3 Wiederholungen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915D50D-A018-B7F4-2C2C-85DE5AF4D9F6}"/>
              </a:ext>
            </a:extLst>
          </p:cNvPr>
          <p:cNvSpPr txBox="1"/>
          <p:nvPr/>
        </p:nvSpPr>
        <p:spPr>
          <a:xfrm>
            <a:off x="6350000" y="4292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50">
                <a:solidFill>
                  <a:srgbClr val="CBD5E1"/>
                </a:solidFill>
                <a:latin typeface="Calibri" panose="020F0502020204030204" pitchFamily="34" charset="0"/>
              </a:rPr>
              <a:t>Jeder Lauf bleibt getrennt gespeichert.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24C6042-A0C5-65DC-EC17-AE62A155B6D6}"/>
              </a:ext>
            </a:extLst>
          </p:cNvPr>
          <p:cNvSpPr/>
          <p:nvPr/>
        </p:nvSpPr>
        <p:spPr>
          <a:xfrm>
            <a:off x="10121900" y="3606800"/>
            <a:ext cx="457200" cy="457200"/>
          </a:xfrm>
          <a:prstGeom prst="ellipse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4B50A7A-7DC5-9A69-6970-3BEE33E6AB19}"/>
              </a:ext>
            </a:extLst>
          </p:cNvPr>
          <p:cNvSpPr txBox="1"/>
          <p:nvPr/>
        </p:nvSpPr>
        <p:spPr>
          <a:xfrm>
            <a:off x="9436100" y="2768600"/>
            <a:ext cx="1828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E2E-Zeit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70C50A4-A13D-99FF-9D39-85142C41C0B2}"/>
              </a:ext>
            </a:extLst>
          </p:cNvPr>
          <p:cNvSpPr txBox="1"/>
          <p:nvPr/>
        </p:nvSpPr>
        <p:spPr>
          <a:xfrm>
            <a:off x="9207500" y="4292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350">
                <a:solidFill>
                  <a:srgbClr val="CBD5E1"/>
                </a:solidFill>
                <a:latin typeface="Calibri" panose="020F0502020204030204" pitchFamily="34" charset="0"/>
              </a:rPr>
              <a:t>Retrieval, Vorbereitung und Generierung werden sichtbar.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F6F882-C4E1-C7AC-3CAE-6E07256517F6}"/>
              </a:ext>
            </a:extLst>
          </p:cNvPr>
          <p:cNvSpPr txBox="1"/>
          <p:nvPr/>
        </p:nvSpPr>
        <p:spPr>
          <a:xfrm>
            <a:off x="2349500" y="5588000"/>
            <a:ext cx="749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700" b="1">
                <a:solidFill>
                  <a:srgbClr val="5EEAD4"/>
                </a:solidFill>
                <a:latin typeface="Calibri" panose="020F0502020204030204" pitchFamily="34" charset="0"/>
              </a:rPr>
              <a:t>40 Fragen × 3 Bedingungen × 2 Modelle × 3 Wiederholungen = 720 Kern-Trials</a:t>
            </a:r>
          </a:p>
        </p:txBody>
      </p:sp>
    </p:spTree>
    <p:extLst>
      <p:ext uri="{BB962C8B-B14F-4D97-AF65-F5344CB8AC3E}">
        <p14:creationId xmlns:p14="http://schemas.microsoft.com/office/powerpoint/2010/main" val="111170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DC2163-251A-BD52-6EC5-4C5F75579FE3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AUSWERTUNG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5352BD0-5E6B-854A-8C66-8DA08003C94E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Ein Ergebnis muss erklärbar sein.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20656A4-1FD9-09EE-92C8-11B88753D2C7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E8032EC-B87A-AC3D-5D25-3188E720179A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B3313BA-38A7-A1E4-1435-76CFFC151A18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08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95843B0-81A0-CD02-8FCE-7E763E70D955}"/>
              </a:ext>
            </a:extLst>
          </p:cNvPr>
          <p:cNvSpPr txBox="1"/>
          <p:nvPr/>
        </p:nvSpPr>
        <p:spPr>
          <a:xfrm>
            <a:off x="1041400" y="26035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800" b="1">
                <a:solidFill>
                  <a:srgbClr val="60A5FA"/>
                </a:solidFill>
                <a:latin typeface="Century Schoolbook" panose="02040604050505020304" pitchFamily="18" charset="0"/>
              </a:rPr>
              <a:t>Antworten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43E9457-BF54-1F74-B801-28AB6F7C5B26}"/>
              </a:ext>
            </a:extLst>
          </p:cNvPr>
          <p:cNvSpPr txBox="1"/>
          <p:nvPr/>
        </p:nvSpPr>
        <p:spPr>
          <a:xfrm>
            <a:off x="1041400" y="3238500"/>
            <a:ext cx="28575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Korrekt? Teilweise? Enthaltung? Verblindete Doppelbewertung.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A0CAD07-F12D-A83D-5BE8-71DDDED329ED}"/>
              </a:ext>
            </a:extLst>
          </p:cNvPr>
          <p:cNvSpPr txBox="1"/>
          <p:nvPr/>
        </p:nvSpPr>
        <p:spPr>
          <a:xfrm>
            <a:off x="4673600" y="26035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800" b="1">
                <a:solidFill>
                  <a:srgbClr val="5EEAD4"/>
                </a:solidFill>
                <a:latin typeface="Century Schoolbook" panose="02040604050505020304" pitchFamily="18" charset="0"/>
              </a:rPr>
              <a:t>Evidenz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36A62B-5D24-F25E-F130-4B7F0D71DAE6}"/>
              </a:ext>
            </a:extLst>
          </p:cNvPr>
          <p:cNvSpPr txBox="1"/>
          <p:nvPr/>
        </p:nvSpPr>
        <p:spPr>
          <a:xfrm>
            <a:off x="4673600" y="3238500"/>
            <a:ext cx="28575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War der Goldpfad überhaupt im Kontext – oder scheiterte das Retrieval?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EA8DA14-01FE-BD3D-AC85-05266EB7A770}"/>
              </a:ext>
            </a:extLst>
          </p:cNvPr>
          <p:cNvSpPr txBox="1"/>
          <p:nvPr/>
        </p:nvSpPr>
        <p:spPr>
          <a:xfrm>
            <a:off x="8305800" y="26035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800" b="1">
                <a:solidFill>
                  <a:srgbClr val="FBBF24"/>
                </a:solidFill>
                <a:latin typeface="Century Schoolbook" panose="02040604050505020304" pitchFamily="18" charset="0"/>
              </a:rPr>
              <a:t>Ressourcen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B2DB82E-D0AF-1018-4368-970D247309CB}"/>
              </a:ext>
            </a:extLst>
          </p:cNvPr>
          <p:cNvSpPr txBox="1"/>
          <p:nvPr/>
        </p:nvSpPr>
        <p:spPr>
          <a:xfrm>
            <a:off x="8305800" y="3238500"/>
            <a:ext cx="28575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p50/p95 der End-to-End-Zeit, Retrievalzeit und Kontextgröße.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9D46199-EF71-A503-BD76-C15DC7962A06}"/>
              </a:ext>
            </a:extLst>
          </p:cNvPr>
          <p:cNvSpPr txBox="1"/>
          <p:nvPr/>
        </p:nvSpPr>
        <p:spPr>
          <a:xfrm>
            <a:off x="2108200" y="5511800"/>
            <a:ext cx="797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So kann ein Nullbefund genauso aufschlussreich sein wie ein Graph-RAG-Vorteil.</a:t>
            </a:r>
          </a:p>
        </p:txBody>
      </p:sp>
    </p:spTree>
    <p:extLst>
      <p:ext uri="{BB962C8B-B14F-4D97-AF65-F5344CB8AC3E}">
        <p14:creationId xmlns:p14="http://schemas.microsoft.com/office/powerpoint/2010/main" val="329087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AB24C8A-5A30-DA33-908F-0F99B7E2E77C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UMSETZUNG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AAB3A0-C604-3927-EFD8-873DC02582F2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Die App verbindet Korpus, Retrieval und lokales Modell.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F5FD02B-92DA-501D-5F70-B87232AE2C17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FDAC74A-3C71-E4D9-E039-C29EC4A5F5B8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2AFB91-CE0A-D628-B758-231D76446E81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09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EE7884-9D34-B941-5775-2C8DC8DB3EF4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632E20E-616B-1331-47DB-2A9363C95646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Die App macht den Vergleich messbar.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26AD18E-63D0-7F62-D0D9-AC0A982A459E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9C92423-7C27-AE6B-1989-1864E253DB6A}"/>
              </a:ext>
            </a:extLst>
          </p:cNvPr>
          <p:cNvCxnSpPr/>
          <p:nvPr/>
        </p:nvCxnSpPr>
        <p:spPr>
          <a:xfrm>
            <a:off x="2514600" y="3810000"/>
            <a:ext cx="18796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AFD5ED9-4075-4D1F-C6EE-555AD3A8FCBD}"/>
              </a:ext>
            </a:extLst>
          </p:cNvPr>
          <p:cNvCxnSpPr/>
          <p:nvPr/>
        </p:nvCxnSpPr>
        <p:spPr>
          <a:xfrm>
            <a:off x="5740400" y="3810000"/>
            <a:ext cx="18796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11D63F7-D593-1999-0C46-BBC1F7CDDD24}"/>
              </a:ext>
            </a:extLst>
          </p:cNvPr>
          <p:cNvCxnSpPr/>
          <p:nvPr/>
        </p:nvCxnSpPr>
        <p:spPr>
          <a:xfrm>
            <a:off x="8966200" y="3810000"/>
            <a:ext cx="15240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F197E692-200E-E9B6-6880-7E4EC1F16FBB}"/>
              </a:ext>
            </a:extLst>
          </p:cNvPr>
          <p:cNvSpPr/>
          <p:nvPr/>
        </p:nvSpPr>
        <p:spPr>
          <a:xfrm>
            <a:off x="2082800" y="3530600"/>
            <a:ext cx="558800" cy="5588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DC1F91F-C163-B61D-EA83-0532EA881008}"/>
              </a:ext>
            </a:extLst>
          </p:cNvPr>
          <p:cNvSpPr/>
          <p:nvPr/>
        </p:nvSpPr>
        <p:spPr>
          <a:xfrm>
            <a:off x="5308600" y="3530600"/>
            <a:ext cx="558800" cy="558800"/>
          </a:xfrm>
          <a:prstGeom prst="ellipse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3177AEC-7380-6FDC-C8C5-7BE0B5C3715A}"/>
              </a:ext>
            </a:extLst>
          </p:cNvPr>
          <p:cNvSpPr/>
          <p:nvPr/>
        </p:nvSpPr>
        <p:spPr>
          <a:xfrm>
            <a:off x="8534400" y="3530600"/>
            <a:ext cx="558800" cy="558800"/>
          </a:xfrm>
          <a:prstGeom prst="ellipse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45A0CFE-D7A4-D1EA-8BEA-03FE77246F03}"/>
              </a:ext>
            </a:extLst>
          </p:cNvPr>
          <p:cNvSpPr/>
          <p:nvPr/>
        </p:nvSpPr>
        <p:spPr>
          <a:xfrm>
            <a:off x="10490200" y="3530600"/>
            <a:ext cx="558800" cy="558800"/>
          </a:xfrm>
          <a:prstGeom prst="ellipse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0D5B957-2474-ACA8-9CB0-229F976796A0}"/>
              </a:ext>
            </a:extLst>
          </p:cNvPr>
          <p:cNvSpPr txBox="1"/>
          <p:nvPr/>
        </p:nvSpPr>
        <p:spPr>
          <a:xfrm>
            <a:off x="1397000" y="4368800"/>
            <a:ext cx="193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00" b="1">
                <a:solidFill>
                  <a:srgbClr val="F8FAFC"/>
                </a:solidFill>
                <a:latin typeface="Calibri" panose="020F0502020204030204" pitchFamily="34" charset="0"/>
              </a:rPr>
              <a:t>Eingefrorener Korpus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79844B2-F162-A920-102C-2C593DC4AD5B}"/>
              </a:ext>
            </a:extLst>
          </p:cNvPr>
          <p:cNvSpPr txBox="1"/>
          <p:nvPr/>
        </p:nvSpPr>
        <p:spPr>
          <a:xfrm>
            <a:off x="4622800" y="4368800"/>
            <a:ext cx="1930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00" b="1">
                <a:solidFill>
                  <a:srgbClr val="F8FAFC"/>
                </a:solidFill>
                <a:latin typeface="Calibri" panose="020F0502020204030204" pitchFamily="34" charset="0"/>
              </a:rPr>
              <a:t>Vektor- und Graphindex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FAB1BA4-7852-2855-677F-80870C3364AF}"/>
              </a:ext>
            </a:extLst>
          </p:cNvPr>
          <p:cNvSpPr txBox="1"/>
          <p:nvPr/>
        </p:nvSpPr>
        <p:spPr>
          <a:xfrm>
            <a:off x="7848600" y="4368800"/>
            <a:ext cx="1930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00" b="1">
                <a:solidFill>
                  <a:srgbClr val="F8FAFC"/>
                </a:solidFill>
                <a:latin typeface="Calibri" panose="020F0502020204030204" pitchFamily="34" charset="0"/>
              </a:rPr>
              <a:t>WebGPU-LLM im Browser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E62DCD1-75BE-BFDB-B783-AC83E40506C2}"/>
              </a:ext>
            </a:extLst>
          </p:cNvPr>
          <p:cNvSpPr txBox="1"/>
          <p:nvPr/>
        </p:nvSpPr>
        <p:spPr>
          <a:xfrm>
            <a:off x="9906000" y="4368800"/>
            <a:ext cx="1727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00" b="1">
                <a:solidFill>
                  <a:srgbClr val="F8FAFC"/>
                </a:solidFill>
                <a:latin typeface="Calibri" panose="020F0502020204030204" pitchFamily="34" charset="0"/>
              </a:rPr>
              <a:t>Export und Bewertung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E4FCE05-DB7F-450B-D12D-5DDC184750DF}"/>
              </a:ext>
            </a:extLst>
          </p:cNvPr>
          <p:cNvSpPr txBox="1"/>
          <p:nvPr/>
        </p:nvSpPr>
        <p:spPr>
          <a:xfrm>
            <a:off x="2133600" y="5524500"/>
            <a:ext cx="7924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Kein eigenes Backend: Messdaten, Nutzerwissen und Modellinferenz bleiben auf dem Gerät.</a:t>
            </a:r>
          </a:p>
        </p:txBody>
      </p:sp>
    </p:spTree>
    <p:extLst>
      <p:ext uri="{BB962C8B-B14F-4D97-AF65-F5344CB8AC3E}">
        <p14:creationId xmlns:p14="http://schemas.microsoft.com/office/powerpoint/2010/main" val="261760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9922FED-89B4-F92D-E6C6-F898BBEDDC4E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UMSETZUNG UND HÜRDEN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3999307-2AE0-E044-110C-1FBA78802451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Eine faire Studie entsteht nicht nur durch mehr Code.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9572603-1491-2650-D885-90A58268183D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030EBBD-436D-7C65-F447-1166CC6EC67A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4B9E655-9A65-9A02-180C-416BADBEBD96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F11B875-1A82-D105-AA83-DA43D01E28DA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CBE1119-0FF8-C53D-C040-21649302EC76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Faire Messung ist mehr als Code.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E68B6AB-439B-A54D-6914-3499DD831B38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8587CFF-233E-865F-4A09-86F04EB1ECD3}"/>
              </a:ext>
            </a:extLst>
          </p:cNvPr>
          <p:cNvSpPr txBox="1"/>
          <p:nvPr/>
        </p:nvSpPr>
        <p:spPr>
          <a:xfrm>
            <a:off x="990600" y="24130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b="1">
                <a:solidFill>
                  <a:srgbClr val="5EEAD4"/>
                </a:solidFill>
                <a:latin typeface="Calibri" panose="020F0502020204030204" pitchFamily="34" charset="0"/>
              </a:rPr>
              <a:t>1 · Reproduzierbarkeit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57A4D74-61B1-B1DB-5898-1E962616FDD8}"/>
              </a:ext>
            </a:extLst>
          </p:cNvPr>
          <p:cNvSpPr txBox="1"/>
          <p:nvPr/>
        </p:nvSpPr>
        <p:spPr>
          <a:xfrm>
            <a:off x="990600" y="2895600"/>
            <a:ext cx="3124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Wikipedia ändert sich. Deshalb habe ich einen kuratierten Messgraphen eingefroren.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9AD14D8-D508-D5D4-D976-D4CA71C4CB40}"/>
              </a:ext>
            </a:extLst>
          </p:cNvPr>
          <p:cNvSpPr txBox="1"/>
          <p:nvPr/>
        </p:nvSpPr>
        <p:spPr>
          <a:xfrm>
            <a:off x="4495800" y="24130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b="1">
                <a:solidFill>
                  <a:srgbClr val="60A5FA"/>
                </a:solidFill>
                <a:latin typeface="Calibri" panose="020F0502020204030204" pitchFamily="34" charset="0"/>
              </a:rPr>
              <a:t>2 · Faire 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5019B7B-DC7B-C04C-6236-EA50A1193327}"/>
              </a:ext>
            </a:extLst>
          </p:cNvPr>
          <p:cNvSpPr txBox="1"/>
          <p:nvPr/>
        </p:nvSpPr>
        <p:spPr>
          <a:xfrm>
            <a:off x="4495800" y="2895600"/>
            <a:ext cx="31242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Graph-Kontexte können länger sein. Budgetkontrolle, gleiche Prompts und Rotation reduzieren Verzerrungen.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20B8171-2E52-77C9-DA40-E0B0F6D877AA}"/>
              </a:ext>
            </a:extLst>
          </p:cNvPr>
          <p:cNvSpPr txBox="1"/>
          <p:nvPr/>
        </p:nvSpPr>
        <p:spPr>
          <a:xfrm>
            <a:off x="8001000" y="24130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b="1">
                <a:solidFill>
                  <a:srgbClr val="FBBF24"/>
                </a:solidFill>
                <a:latin typeface="Calibri" panose="020F0502020204030204" pitchFamily="34" charset="0"/>
              </a:rPr>
              <a:t>3 · Mobile Laufzeit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D626CE4-BE25-7FA5-35C0-F3373DC975F1}"/>
              </a:ext>
            </a:extLst>
          </p:cNvPr>
          <p:cNvSpPr txBox="1"/>
          <p:nvPr/>
        </p:nvSpPr>
        <p:spPr>
          <a:xfrm>
            <a:off x="8001000" y="2895600"/>
            <a:ext cx="31242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WebGPU, Modell- und Embedding-Downloads, Wärme und Cache-Zustände können Messungen beeinflussen.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F9AE33-1AEF-1DEB-7AEA-7D467D0D2735}"/>
              </a:ext>
            </a:extLst>
          </p:cNvPr>
          <p:cNvSpPr txBox="1"/>
          <p:nvPr/>
        </p:nvSpPr>
        <p:spPr>
          <a:xfrm>
            <a:off x="2108200" y="5308600"/>
            <a:ext cx="7975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Weitere Prüfaufgabe vor dem Hauptlauf: Fakten, Goldpfade und Hop-Tiefen des Katalogs einzeln gegen den Korpus kontrollieren.</a:t>
            </a:r>
          </a:p>
        </p:txBody>
      </p:sp>
    </p:spTree>
    <p:extLst>
      <p:ext uri="{BB962C8B-B14F-4D97-AF65-F5344CB8AC3E}">
        <p14:creationId xmlns:p14="http://schemas.microsoft.com/office/powerpoint/2010/main" val="185391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782C2AE-68C3-13E7-7E42-F62577F03A19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ARTEFAKT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DBA14D-CBF8-1A1F-6BD1-DF83DB0CC6D6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Mein Messinstrument zeigt den Weg zur Antwort.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0E5EBBA-7B42-3266-1637-AD6D8FA96A83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F906A8C-E622-78B0-F9C2-D470B0026352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3CE4A85-AB53-8A0E-53DF-BC866BDF3D9C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C8A18E-8633-DA1C-91C7-6DF6DAB03753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CB4C7EA-2F97-058F-80B4-5E25BBE4C9B3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Der Weg zur Antwort bleibt sichtbar.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017AB67-1B0E-968E-B521-18D58A162147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ACC695D-5721-E50C-9096-118DBBC5CB59}"/>
              </a:ext>
            </a:extLst>
          </p:cNvPr>
          <p:cNvSpPr txBox="1"/>
          <p:nvPr/>
        </p:nvSpPr>
        <p:spPr>
          <a:xfrm>
            <a:off x="1066800" y="2565400"/>
            <a:ext cx="3276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 b="1">
                <a:solidFill>
                  <a:srgbClr val="5EEAD4"/>
                </a:solidFill>
                <a:latin typeface="Calibri" panose="020F0502020204030204" pitchFamily="34" charset="0"/>
              </a:rPr>
              <a:t>FRAGE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34182F3-DE7F-A26C-B006-423E077F64E3}"/>
              </a:ext>
            </a:extLst>
          </p:cNvPr>
          <p:cNvSpPr txBox="1"/>
          <p:nvPr/>
        </p:nvSpPr>
        <p:spPr>
          <a:xfrm>
            <a:off x="4699000" y="2565400"/>
            <a:ext cx="289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 b="1">
                <a:solidFill>
                  <a:srgbClr val="5EEAD4"/>
                </a:solidFill>
                <a:latin typeface="Calibri" panose="020F0502020204030204" pitchFamily="34" charset="0"/>
              </a:rPr>
              <a:t>RETRIEVAL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E551FC1-7764-118B-F3C9-D921087EAAA2}"/>
              </a:ext>
            </a:extLst>
          </p:cNvPr>
          <p:cNvSpPr txBox="1"/>
          <p:nvPr/>
        </p:nvSpPr>
        <p:spPr>
          <a:xfrm>
            <a:off x="8229600" y="2565400"/>
            <a:ext cx="289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400" b="1">
                <a:solidFill>
                  <a:srgbClr val="5EEAD4"/>
                </a:solidFill>
                <a:latin typeface="Calibri" panose="020F0502020204030204" pitchFamily="34" charset="0"/>
              </a:rPr>
              <a:t>ANTWORT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1DAFEC3-7730-A2B5-4F49-A396B13BFBFA}"/>
              </a:ext>
            </a:extLst>
          </p:cNvPr>
          <p:cNvCxnSpPr/>
          <p:nvPr/>
        </p:nvCxnSpPr>
        <p:spPr>
          <a:xfrm>
            <a:off x="3175000" y="3530600"/>
            <a:ext cx="14224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3BE77CF-C3C1-CC0D-93F9-F20B4CD02946}"/>
              </a:ext>
            </a:extLst>
          </p:cNvPr>
          <p:cNvCxnSpPr/>
          <p:nvPr/>
        </p:nvCxnSpPr>
        <p:spPr>
          <a:xfrm>
            <a:off x="7416800" y="3530600"/>
            <a:ext cx="711200" cy="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DFD533D-4BE4-F2A2-3DF3-938077F1E27D}"/>
              </a:ext>
            </a:extLst>
          </p:cNvPr>
          <p:cNvSpPr txBox="1"/>
          <p:nvPr/>
        </p:nvSpPr>
        <p:spPr>
          <a:xfrm>
            <a:off x="1016000" y="3175000"/>
            <a:ext cx="2260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Welche Verbindung führt von Hegel zu Kierkegaard?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081FCBF-4E8B-F47D-D4B6-73467939CE67}"/>
              </a:ext>
            </a:extLst>
          </p:cNvPr>
          <p:cNvSpPr txBox="1"/>
          <p:nvPr/>
        </p:nvSpPr>
        <p:spPr>
          <a:xfrm>
            <a:off x="4648200" y="3175000"/>
            <a:ext cx="2616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Kontext, Knoten und Kanten bleiben offenlegbar.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133B6F6-3A3A-2686-EE31-0BA3D383A974}"/>
              </a:ext>
            </a:extLst>
          </p:cNvPr>
          <p:cNvSpPr txBox="1"/>
          <p:nvPr/>
        </p:nvSpPr>
        <p:spPr>
          <a:xfrm>
            <a:off x="8255000" y="3175000"/>
            <a:ext cx="254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Antwort, Laufzeit und Evidenz sind exportierbar.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792CF4E-BDC9-6CD3-3AAD-B34DF1B4DACC}"/>
              </a:ext>
            </a:extLst>
          </p:cNvPr>
          <p:cNvSpPr txBox="1"/>
          <p:nvPr/>
        </p:nvSpPr>
        <p:spPr>
          <a:xfrm>
            <a:off x="2311400" y="5016500"/>
            <a:ext cx="7493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2000">
                <a:solidFill>
                  <a:srgbClr val="CBD5E1"/>
                </a:solidFill>
                <a:latin typeface="Calibri" panose="020F0502020204030204" pitchFamily="34" charset="0"/>
              </a:rPr>
              <a:t>Die App ist nicht nur eine Demo. Sie ist das Messinstrument für einen transparenten Vergleich.</a:t>
            </a:r>
          </a:p>
        </p:txBody>
      </p:sp>
    </p:spTree>
    <p:extLst>
      <p:ext uri="{BB962C8B-B14F-4D97-AF65-F5344CB8AC3E}">
        <p14:creationId xmlns:p14="http://schemas.microsoft.com/office/powerpoint/2010/main" val="150829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6D460A-450A-50EA-B6E9-0EF5F1CC957E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EINORDNUNG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99C40C-5B86-539A-A72A-F518088C4BA8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Graph-RAG ist nicht einfach „besser“.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F0FD44-C354-EC48-DCB8-4115DD17546A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4E73F4-A133-08DB-3E93-36D1C7AACBCB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BB28E06-5B56-DC13-7CF4-3F84C6069BB5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1A2FFCE-1BF9-177C-AA72-B2053E24B97C}"/>
              </a:ext>
            </a:extLst>
          </p:cNvPr>
          <p:cNvSpPr txBox="1"/>
          <p:nvPr/>
        </p:nvSpPr>
        <p:spPr>
          <a:xfrm>
            <a:off x="1854200" y="2603500"/>
            <a:ext cx="8509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Sondern wann explizite Struktur ihren Preis wert ist.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F55A672-2616-ABCD-CE9A-48056B336E4F}"/>
              </a:ext>
            </a:extLst>
          </p:cNvPr>
          <p:cNvSpPr/>
          <p:nvPr/>
        </p:nvSpPr>
        <p:spPr>
          <a:xfrm>
            <a:off x="3581400" y="3911600"/>
            <a:ext cx="5029200" cy="254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CBE0F2C-3F85-F764-C8DC-E86AAF30BB98}"/>
              </a:ext>
            </a:extLst>
          </p:cNvPr>
          <p:cNvSpPr txBox="1"/>
          <p:nvPr/>
        </p:nvSpPr>
        <p:spPr>
          <a:xfrm>
            <a:off x="2476500" y="4394200"/>
            <a:ext cx="7239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650">
                <a:solidFill>
                  <a:srgbClr val="CBD5E1"/>
                </a:solidFill>
                <a:latin typeface="Calibri" panose="020F0502020204030204" pitchFamily="34" charset="0"/>
              </a:rPr>
              <a:t>Ich dokumentiere auch Null- und Negativbefunde – sowie meinen iterativen KI-Einsatz mit Claude und ChatGPT – vollständig im Transparenz-Bericht.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6CBF89A-4CED-1CDC-485C-715E63C3A668}"/>
              </a:ext>
            </a:extLst>
          </p:cNvPr>
          <p:cNvSpPr txBox="1"/>
          <p:nvPr/>
        </p:nvSpPr>
        <p:spPr>
          <a:xfrm>
            <a:off x="3289300" y="5562600"/>
            <a:ext cx="561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00" b="1">
                <a:solidFill>
                  <a:srgbClr val="5EEAD4"/>
                </a:solidFill>
                <a:latin typeface="Calibri" panose="020F0502020204030204" pitchFamily="34" charset="0"/>
              </a:rPr>
              <a:t>Nächster Schritt: Messläufe · Bewertung · nachvollziehbare Ergebnisse</a:t>
            </a:r>
          </a:p>
        </p:txBody>
      </p:sp>
    </p:spTree>
    <p:extLst>
      <p:ext uri="{BB962C8B-B14F-4D97-AF65-F5344CB8AC3E}">
        <p14:creationId xmlns:p14="http://schemas.microsoft.com/office/powerpoint/2010/main" val="37154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D4CEF5-D56F-32E9-EDD7-8B81639ECD49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PILOT UND FREIGABE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40847F6-71FE-0DD3-500D-4556C823017C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Erst prüfen, dann behaupten.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2FE3F43-AEAC-C622-DA01-AF8DF5201A00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5008046-8CF0-3C5C-273B-076A7C564E6C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536EB83-E609-A59E-F769-F2AAF11F8258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13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CBF5BD-8CE6-6A23-F19F-F303C785FA74}"/>
              </a:ext>
            </a:extLst>
          </p:cNvPr>
          <p:cNvSpPr txBox="1"/>
          <p:nvPr/>
        </p:nvSpPr>
        <p:spPr>
          <a:xfrm>
            <a:off x="1117600" y="2463800"/>
            <a:ext cx="330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100" b="1">
                <a:solidFill>
                  <a:srgbClr val="5EEAD4"/>
                </a:solidFill>
                <a:latin typeface="Calibri" panose="020F0502020204030204" pitchFamily="34" charset="0"/>
              </a:rPr>
              <a:t>1  Messstand einfrieren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4131FDA-6F51-2552-EC12-6E46F35D0CEA}"/>
              </a:ext>
            </a:extLst>
          </p:cNvPr>
          <p:cNvSpPr txBox="1"/>
          <p:nvPr/>
        </p:nvSpPr>
        <p:spPr>
          <a:xfrm>
            <a:off x="1117600" y="3022600"/>
            <a:ext cx="3175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Commit, Gerät, Browser, Modelle, Seeds und Cache-Zustand dokumentieren.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573D21-25C9-A9A2-DE17-A1000105BE35}"/>
              </a:ext>
            </a:extLst>
          </p:cNvPr>
          <p:cNvSpPr txBox="1"/>
          <p:nvPr/>
        </p:nvSpPr>
        <p:spPr>
          <a:xfrm>
            <a:off x="4851400" y="2463800"/>
            <a:ext cx="304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100" b="1">
                <a:solidFill>
                  <a:srgbClr val="60A5FA"/>
                </a:solidFill>
                <a:latin typeface="Calibri" panose="020F0502020204030204" pitchFamily="34" charset="0"/>
              </a:rPr>
              <a:t>2  Korpus kontrollieren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AF9FF3-8F8E-C3BB-1226-82007549DA66}"/>
              </a:ext>
            </a:extLst>
          </p:cNvPr>
          <p:cNvSpPr txBox="1"/>
          <p:nvPr/>
        </p:nvSpPr>
        <p:spPr>
          <a:xfrm>
            <a:off x="4851400" y="3022600"/>
            <a:ext cx="304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Alle Goldpfade, Hop-Tiefen und unbeantwortbaren Fragen gegen den Korpus prüfen.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C12AE48-5A2C-5298-AB0F-7358144457E4}"/>
              </a:ext>
            </a:extLst>
          </p:cNvPr>
          <p:cNvSpPr txBox="1"/>
          <p:nvPr/>
        </p:nvSpPr>
        <p:spPr>
          <a:xfrm>
            <a:off x="8483600" y="24638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100" b="1">
                <a:solidFill>
                  <a:srgbClr val="FBBF24"/>
                </a:solidFill>
                <a:latin typeface="Calibri" panose="020F0502020204030204" pitchFamily="34" charset="0"/>
              </a:rPr>
              <a:t>3  Pipeline prüfen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A751500-35DF-1448-E1B4-5F3686B58352}"/>
              </a:ext>
            </a:extLst>
          </p:cNvPr>
          <p:cNvSpPr txBox="1"/>
          <p:nvPr/>
        </p:nvSpPr>
        <p:spPr>
          <a:xfrm>
            <a:off x="8483600" y="3022600"/>
            <a:ext cx="266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>
                <a:solidFill>
                  <a:srgbClr val="CBD5E1"/>
                </a:solidFill>
                <a:latin typeface="Calibri" panose="020F0502020204030204" pitchFamily="34" charset="0"/>
              </a:rPr>
              <a:t>Zeitmessung, Export und Verblindung zuerst technisch validieren.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78CA093-4D6B-8631-BB9A-3519FD85B1F8}"/>
              </a:ext>
            </a:extLst>
          </p:cNvPr>
          <p:cNvCxnSpPr/>
          <p:nvPr/>
        </p:nvCxnSpPr>
        <p:spPr>
          <a:xfrm>
            <a:off x="1600200" y="4495800"/>
            <a:ext cx="8991600" cy="0"/>
          </a:xfrm>
          <a:prstGeom prst="straightConnector1">
            <a:avLst/>
          </a:prstGeom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C536AF6-9026-7CEC-460D-2EF567C82143}"/>
              </a:ext>
            </a:extLst>
          </p:cNvPr>
          <p:cNvSpPr txBox="1"/>
          <p:nvPr/>
        </p:nvSpPr>
        <p:spPr>
          <a:xfrm>
            <a:off x="2082800" y="5105400"/>
            <a:ext cx="80264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Demo-Ausgaben sind kein Ergebnis. Erst exportierte und doppelt bewertete WebLLM-Läufe dürfen Hypothesen bestätigen oder widerlegen.</a:t>
            </a:r>
          </a:p>
        </p:txBody>
      </p:sp>
    </p:spTree>
    <p:extLst>
      <p:ext uri="{BB962C8B-B14F-4D97-AF65-F5344CB8AC3E}">
        <p14:creationId xmlns:p14="http://schemas.microsoft.com/office/powerpoint/2010/main" val="182711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92F099A-8E8D-61D9-9EA7-7B497525AD38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QUELLEN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078A94C-A558-4003-E6A5-8F8327BCFF51}"/>
              </a:ext>
            </a:extLst>
          </p:cNvPr>
          <p:cNvSpPr txBox="1"/>
          <p:nvPr/>
        </p:nvSpPr>
        <p:spPr>
          <a:xfrm>
            <a:off x="711200" y="914400"/>
            <a:ext cx="10668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Theorie, Benchmarks und technische Grundlage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6D373D-8A68-75F5-CB89-EB4DEE1A887E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C99E50-EED1-1F1B-6BD3-F2B3FA075FB4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5E126C-6AE0-3D42-5EDF-1C92190BC6F9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027708-E668-142B-1414-66E01F70533E}"/>
              </a:ext>
            </a:extLst>
          </p:cNvPr>
          <p:cNvSpPr/>
          <p:nvPr/>
        </p:nvSpPr>
        <p:spPr>
          <a:xfrm>
            <a:off x="635000" y="838200"/>
            <a:ext cx="10795000" cy="10668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987DA3-EB3A-1D38-F4BE-1842FDB8994A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Quellen und Grundlagen.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7D6E903-D089-0D38-AD84-4E2D74B95417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69D154A-5384-3C83-71E1-0CC3D73F87D8}"/>
              </a:ext>
            </a:extLst>
          </p:cNvPr>
          <p:cNvSpPr/>
          <p:nvPr/>
        </p:nvSpPr>
        <p:spPr>
          <a:xfrm>
            <a:off x="635000" y="1905000"/>
            <a:ext cx="10795000" cy="1905000"/>
          </a:xfrm>
          <a:prstGeom prst="rect">
            <a:avLst/>
          </a:prstGeom>
          <a:solidFill>
            <a:srgbClr val="0F293B"/>
          </a:solidFill>
          <a:ln w="9525">
            <a:solidFill>
              <a:srgbClr val="0F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68FE4BB-6FF9-3173-44AA-C90E97817CF0}"/>
              </a:ext>
            </a:extLst>
          </p:cNvPr>
          <p:cNvSpPr txBox="1"/>
          <p:nvPr/>
        </p:nvSpPr>
        <p:spPr>
          <a:xfrm>
            <a:off x="1066800" y="2362200"/>
            <a:ext cx="9906000" cy="22852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650">
                <a:solidFill>
                  <a:srgbClr val="CBD5E1"/>
                </a:solidFill>
                <a:latin typeface="Calibri" panose="020F0502020204030204" pitchFamily="34" charset="0"/>
              </a:rPr>
              <a:t>[1] Lewis et al. (2020). Retrieval-Augmented Generation for Knowledge-Intensive NLP Tasks. NeurIPS.
[2] Edge et al. (2024). From Local to Global: A Graph RAG Approach to Query-Focused Summarization.
[3] Gutiérrez et al. (2024). HippoRAG. NeurIPS.
[4] Yang et al. (2018). HotpotQA. EMNLP.
[5] MLC-Team (2024). WebLLM: High-Performance In-Browser LLM Inference.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3F58001-636D-E63D-D3F1-2CC4F7536D14}"/>
              </a:ext>
            </a:extLst>
          </p:cNvPr>
          <p:cNvSpPr txBox="1"/>
          <p:nvPr/>
        </p:nvSpPr>
        <p:spPr>
          <a:xfrm>
            <a:off x="1066800" y="5486400"/>
            <a:ext cx="990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Korpusgrundlage: ausgewählte deutschsprachige Wikipedia-Artikel; konkrete Artikelversionen und Attribution werden im Transparenz-Bericht dokumentiert.</a:t>
            </a:r>
          </a:p>
        </p:txBody>
      </p:sp>
    </p:spTree>
    <p:extLst>
      <p:ext uri="{BB962C8B-B14F-4D97-AF65-F5344CB8AC3E}">
        <p14:creationId xmlns:p14="http://schemas.microsoft.com/office/powerpoint/2010/main" val="1357270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782F44B-26F5-0DBF-CA2E-AF985AADEBE1}"/>
              </a:ext>
            </a:extLst>
          </p:cNvPr>
          <p:cNvSpPr txBox="1"/>
          <p:nvPr/>
        </p:nvSpPr>
        <p:spPr>
          <a:xfrm>
            <a:off x="711200" y="482600"/>
            <a:ext cx="698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KI-DISCLAIMER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F6AAAF8-8210-526F-CEE1-182DA8764F3A}"/>
              </a:ext>
            </a:extLst>
          </p:cNvPr>
          <p:cNvSpPr txBox="1"/>
          <p:nvPr/>
        </p:nvSpPr>
        <p:spPr>
          <a:xfrm>
            <a:off x="711200" y="914400"/>
            <a:ext cx="10668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500" b="1">
                <a:solidFill>
                  <a:srgbClr val="F8FAFC"/>
                </a:solidFill>
                <a:latin typeface="Century Schoolbook" panose="02040604050505020304" pitchFamily="18" charset="0"/>
              </a:rPr>
              <a:t>Wo ich KI verwendet habe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582E00-B126-F9E0-1001-8719DA10F080}"/>
              </a:ext>
            </a:extLst>
          </p:cNvPr>
          <p:cNvSpPr/>
          <p:nvPr/>
        </p:nvSpPr>
        <p:spPr>
          <a:xfrm>
            <a:off x="711200" y="1778000"/>
            <a:ext cx="965200" cy="3810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A416168-FC7A-32FF-6829-02CA2C9E912F}"/>
              </a:ext>
            </a:extLst>
          </p:cNvPr>
          <p:cNvSpPr txBox="1"/>
          <p:nvPr/>
        </p:nvSpPr>
        <p:spPr>
          <a:xfrm>
            <a:off x="711200" y="6553200"/>
            <a:ext cx="762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50">
                <a:solidFill>
                  <a:srgbClr val="94A3B8"/>
                </a:solidFill>
                <a:latin typeface="Calibri" panose="020F0502020204030204" pitchFamily="34" charset="0"/>
              </a:rPr>
              <a:t>Graph-RAG auf dem Smartphone · Proseminar SoSe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7223CD7-0CF1-D83E-A81D-75753BEAF35B}"/>
              </a:ext>
            </a:extLst>
          </p:cNvPr>
          <p:cNvSpPr txBox="1"/>
          <p:nvPr/>
        </p:nvSpPr>
        <p:spPr>
          <a:xfrm>
            <a:off x="11049000" y="6553200"/>
            <a:ext cx="431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15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BF91BE4-1034-6144-E66A-1FB9B65A3428}"/>
              </a:ext>
            </a:extLst>
          </p:cNvPr>
          <p:cNvSpPr txBox="1"/>
          <p:nvPr/>
        </p:nvSpPr>
        <p:spPr>
          <a:xfrm>
            <a:off x="1092200" y="23368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200" b="1">
                <a:solidFill>
                  <a:srgbClr val="5EEAD4"/>
                </a:solidFill>
                <a:latin typeface="Calibri" panose="020F0502020204030204" pitchFamily="34" charset="0"/>
              </a:rPr>
              <a:t>Claude und ChatGPT im Chat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DC8BCC9-632D-3F74-1976-FD5CD90BE4C9}"/>
              </a:ext>
            </a:extLst>
          </p:cNvPr>
          <p:cNvSpPr txBox="1"/>
          <p:nvPr/>
        </p:nvSpPr>
        <p:spPr>
          <a:xfrm>
            <a:off x="1092200" y="2997200"/>
            <a:ext cx="4191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>
                <a:solidFill>
                  <a:srgbClr val="CBD5E1"/>
                </a:solidFill>
                <a:latin typeface="Calibri" panose="020F0502020204030204" pitchFamily="34" charset="0"/>
              </a:rPr>
              <a:t>• Ideenschärfung und Forschungsfrage
• Entwürfe für Code und UI
• Korpus- und Fragenentwürfe
• Struktur und Rohfassungen der Texte
• Präsentationsentwurf und Überarbeitung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E3E6B9E-3511-3DF2-FE0D-E91DBF6B9FA8}"/>
              </a:ext>
            </a:extLst>
          </p:cNvPr>
          <p:cNvCxnSpPr/>
          <p:nvPr/>
        </p:nvCxnSpPr>
        <p:spPr>
          <a:xfrm>
            <a:off x="6273800" y="2336800"/>
            <a:ext cx="0" cy="3022600"/>
          </a:xfrm>
          <a:prstGeom prst="straightConnector1">
            <a:avLst/>
          </a:prstGeom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00D524B9-690C-3CB1-80E2-934804DA5922}"/>
              </a:ext>
            </a:extLst>
          </p:cNvPr>
          <p:cNvSpPr txBox="1"/>
          <p:nvPr/>
        </p:nvSpPr>
        <p:spPr>
          <a:xfrm>
            <a:off x="7112000" y="23368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200" b="1">
                <a:solidFill>
                  <a:srgbClr val="FBBF24"/>
                </a:solidFill>
                <a:latin typeface="Calibri" panose="020F0502020204030204" pitchFamily="34" charset="0"/>
              </a:rPr>
              <a:t>Meine Verantwortung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C1744CC-B303-DFC9-05C7-38EFA4976035}"/>
              </a:ext>
            </a:extLst>
          </p:cNvPr>
          <p:cNvSpPr txBox="1"/>
          <p:nvPr/>
        </p:nvSpPr>
        <p:spPr>
          <a:xfrm>
            <a:off x="7112000" y="2997200"/>
            <a:ext cx="39370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Ich habe Ziele und Anforderungen vorgegeben, Varianten ausgewählt, Inhalte geprüft, Tests angestoßen und verantworte Methode, Code, Quellen und Schlussfolgerungen.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CB1DB35-55A6-5990-AFBD-2831F4F3CFEA}"/>
              </a:ext>
            </a:extLst>
          </p:cNvPr>
          <p:cNvSpPr txBox="1"/>
          <p:nvPr/>
        </p:nvSpPr>
        <p:spPr>
          <a:xfrm>
            <a:off x="1981200" y="5689600"/>
            <a:ext cx="8255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550" b="1">
                <a:solidFill>
                  <a:srgbClr val="5EEAD4"/>
                </a:solidFill>
                <a:latin typeface="Calibri" panose="020F0502020204030204" pitchFamily="34" charset="0"/>
              </a:rPr>
              <a:t>Alle übernommenen Fakten und Quellen werden vor der Abgabe nochmals einzeln überprüft.</a:t>
            </a:r>
          </a:p>
        </p:txBody>
      </p:sp>
    </p:spTree>
    <p:extLst>
      <p:ext uri="{BB962C8B-B14F-4D97-AF65-F5344CB8AC3E}">
        <p14:creationId xmlns:p14="http://schemas.microsoft.com/office/powerpoint/2010/main" val="401577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1060</Words>
  <Application>Microsoft Office PowerPoint</Application>
  <PresentationFormat>Benutzerdefiniert</PresentationFormat>
  <Paragraphs>155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Century Schoolbook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Sinan Adigüzel</dc:creator>
  <cp:lastModifiedBy>Sinan Adigüzel</cp:lastModifiedBy>
  <cp:revision>1</cp:revision>
  <dcterms:created xsi:type="dcterms:W3CDTF">2026-07-09T20:40:41Z</dcterms:created>
  <dcterms:modified xsi:type="dcterms:W3CDTF">2026-07-09T20:40:41Z</dcterms:modified>
</cp:coreProperties>
</file>